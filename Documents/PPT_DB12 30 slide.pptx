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7" r:id="rId2"/>
    <p:sldId id="274" r:id="rId3"/>
    <p:sldId id="260" r:id="rId4"/>
    <p:sldId id="261" r:id="rId5"/>
    <p:sldId id="278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71" r:id="rId26"/>
    <p:sldId id="275" r:id="rId27"/>
    <p:sldId id="276" r:id="rId28"/>
    <p:sldId id="272" r:id="rId29"/>
    <p:sldId id="273" r:id="rId30"/>
    <p:sldId id="277" r:id="rId3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6C80D-53E3-491C-8DEF-88F282CA3651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AECFA-E782-4340-988A-48FC5D9BE8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038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AECFA-E782-4340-988A-48FC5D9BE8F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789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spc="-2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spc="-2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" y="38100"/>
            <a:ext cx="3667124" cy="5048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5463" y="283463"/>
            <a:ext cx="10101072" cy="1200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730872"/>
            <a:ext cx="8149590" cy="3088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64452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04626" y="6451049"/>
            <a:ext cx="2159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12476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document/10806715" TargetMode="External"/><Relationship Id="rId5" Type="http://schemas.openxmlformats.org/officeDocument/2006/relationships/hyperlink" Target="https://ieeexplore.ieee.org/document/10234403" TargetMode="External"/><Relationship Id="rId4" Type="http://schemas.openxmlformats.org/officeDocument/2006/relationships/hyperlink" Target="https://ieeexplore.ieee.org/document/10517609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759677"/>
          </a:xfrm>
          <a:prstGeom prst="rect">
            <a:avLst/>
          </a:prstGeom>
        </p:spPr>
        <p:txBody>
          <a:bodyPr vert="horz" wrap="square" lIns="0" tIns="478010" rIns="0" bIns="0" rtlCol="0">
            <a:spAutoFit/>
          </a:bodyPr>
          <a:lstStyle/>
          <a:p>
            <a:pPr marL="248285" algn="ctr">
              <a:lnSpc>
                <a:spcPct val="100000"/>
              </a:lnSpc>
              <a:spcBef>
                <a:spcPts val="509"/>
              </a:spcBef>
            </a:pPr>
            <a:r>
              <a:rPr sz="1800" dirty="0"/>
              <a:t>Department</a:t>
            </a:r>
            <a:r>
              <a:rPr sz="1800" spc="-20" dirty="0"/>
              <a:t> </a:t>
            </a:r>
            <a:r>
              <a:rPr sz="1800" dirty="0"/>
              <a:t>of</a:t>
            </a:r>
            <a:r>
              <a:rPr sz="1800" spc="-5" dirty="0"/>
              <a:t> </a:t>
            </a:r>
            <a:r>
              <a:rPr sz="1800" dirty="0"/>
              <a:t>Computer</a:t>
            </a:r>
            <a:r>
              <a:rPr sz="1800" spc="-60" dirty="0"/>
              <a:t> </a:t>
            </a:r>
            <a:r>
              <a:rPr sz="1800" dirty="0"/>
              <a:t>Science</a:t>
            </a:r>
            <a:r>
              <a:rPr sz="1800" spc="15" dirty="0"/>
              <a:t> </a:t>
            </a:r>
            <a:r>
              <a:rPr sz="1800" dirty="0"/>
              <a:t>and</a:t>
            </a:r>
            <a:r>
              <a:rPr sz="1800" spc="40" dirty="0"/>
              <a:t> </a:t>
            </a:r>
            <a:r>
              <a:rPr sz="1800" spc="-10" dirty="0"/>
              <a:t>Engineering</a:t>
            </a:r>
            <a:endParaRPr sz="1800" dirty="0"/>
          </a:p>
        </p:txBody>
      </p:sp>
      <p:sp>
        <p:nvSpPr>
          <p:cNvPr id="4" name="object 4"/>
          <p:cNvSpPr txBox="1"/>
          <p:nvPr/>
        </p:nvSpPr>
        <p:spPr>
          <a:xfrm>
            <a:off x="5704840" y="1946592"/>
            <a:ext cx="1503045" cy="50590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imes New Roman"/>
                <a:cs typeface="Times New Roman"/>
              </a:rPr>
              <a:t>PRESENTED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BY</a:t>
            </a:r>
            <a:endParaRPr lang="en-IN" sz="1550" spc="-2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64634" y="3599878"/>
            <a:ext cx="4304665" cy="25555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Under</a:t>
            </a:r>
            <a:r>
              <a:rPr sz="1800" spc="2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Guidance</a:t>
            </a:r>
            <a:r>
              <a:rPr sz="1800" spc="-25" dirty="0">
                <a:solidFill>
                  <a:srgbClr val="006600"/>
                </a:solidFill>
                <a:latin typeface="Times New Roman"/>
                <a:cs typeface="Times New Roman"/>
              </a:rPr>
              <a:t> of,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70"/>
              </a:spcBef>
            </a:pPr>
            <a:r>
              <a:rPr lang="en-IN" sz="1550" b="1" dirty="0">
                <a:latin typeface="Times New Roman"/>
                <a:cs typeface="Times New Roman"/>
              </a:rPr>
              <a:t>T.G. RAMNADH BABU</a:t>
            </a:r>
            <a:r>
              <a:rPr lang="en-IN" sz="1575" b="1" spc="-15" baseline="-15873" dirty="0">
                <a:latin typeface="Times New Roman"/>
                <a:cs typeface="Times New Roman"/>
              </a:rPr>
              <a:t>  M Tech</a:t>
            </a:r>
            <a:r>
              <a:rPr sz="1550" b="1" spc="-10" dirty="0">
                <a:latin typeface="Times New Roman"/>
                <a:cs typeface="Times New Roman"/>
              </a:rPr>
              <a:t>,</a:t>
            </a:r>
            <a:r>
              <a:rPr lang="en-IN" sz="1550" b="1" spc="-10" dirty="0">
                <a:latin typeface="Times New Roman"/>
                <a:cs typeface="Times New Roman"/>
              </a:rPr>
              <a:t> </a:t>
            </a: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Designation,</a:t>
            </a:r>
            <a:endParaRPr lang="en-IN" sz="1550" spc="-10" dirty="0">
              <a:solidFill>
                <a:srgbClr val="888888"/>
              </a:solidFill>
              <a:latin typeface="Times New Roman"/>
              <a:cs typeface="Times New Roman"/>
            </a:endParaRPr>
          </a:p>
          <a:p>
            <a:pPr algn="ctr">
              <a:spcBef>
                <a:spcPts val="470"/>
              </a:spcBef>
            </a:pPr>
            <a:r>
              <a:rPr lang="en-US" sz="1400" dirty="0"/>
              <a:t>Assistant Professor</a:t>
            </a:r>
            <a:endParaRPr sz="1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95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550" spc="9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550" spc="1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Computer</a:t>
            </a:r>
            <a:r>
              <a:rPr sz="1550" spc="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Science</a:t>
            </a:r>
            <a:r>
              <a:rPr sz="1550" spc="14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and</a:t>
            </a:r>
            <a:r>
              <a:rPr sz="1550" spc="13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Engineering,</a:t>
            </a:r>
            <a:endParaRPr sz="1550" dirty="0">
              <a:latin typeface="Times New Roman"/>
              <a:cs typeface="Times New Roman"/>
            </a:endParaRPr>
          </a:p>
          <a:p>
            <a:pPr marL="57785" marR="61594" algn="ctr">
              <a:lnSpc>
                <a:spcPct val="173700"/>
              </a:lnSpc>
              <a:spcBef>
                <a:spcPts val="70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Narasaraopeta</a:t>
            </a:r>
            <a:r>
              <a:rPr sz="1550" spc="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Engineering</a:t>
            </a:r>
            <a:r>
              <a:rPr sz="155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College</a:t>
            </a:r>
            <a:r>
              <a:rPr sz="1550" spc="204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(Autonomous),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Narasaraopet-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522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20" dirty="0">
                <a:solidFill>
                  <a:srgbClr val="888888"/>
                </a:solidFill>
                <a:latin typeface="Times New Roman"/>
                <a:cs typeface="Times New Roman"/>
              </a:rPr>
              <a:t>601.</a:t>
            </a:r>
            <a:endParaRPr sz="155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57582"/>
            <a:ext cx="3648074" cy="50532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10" name="object 10"/>
          <p:cNvSpPr txBox="1"/>
          <p:nvPr/>
        </p:nvSpPr>
        <p:spPr>
          <a:xfrm>
            <a:off x="4267200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480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 DB12</a:t>
            </a:r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7005320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2E6DE5-587C-B117-9409-336AACCB4F21}"/>
              </a:ext>
            </a:extLst>
          </p:cNvPr>
          <p:cNvSpPr txBox="1"/>
          <p:nvPr/>
        </p:nvSpPr>
        <p:spPr>
          <a:xfrm>
            <a:off x="917575" y="1186864"/>
            <a:ext cx="1058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 eaLnBrk="1" fontAlgn="base" hangingPunct="1"/>
            <a:r>
              <a:rPr lang="en-US" sz="1800" b="1" dirty="0">
                <a:solidFill>
                  <a:srgbClr val="FF0000"/>
                </a:solidFill>
              </a:rPr>
              <a:t>Audio-Based Deepfake Detection Leveraging ECAPA-TDNN and TIMIT-TTS Corpus</a:t>
            </a:r>
            <a:endParaRPr lang="en-IN" sz="2800" dirty="0">
              <a:solidFill>
                <a:srgbClr val="FF0000"/>
              </a:solidFill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A8C1BB-BAA4-D2C3-0045-7541F40C93B2}"/>
              </a:ext>
            </a:extLst>
          </p:cNvPr>
          <p:cNvSpPr txBox="1"/>
          <p:nvPr/>
        </p:nvSpPr>
        <p:spPr>
          <a:xfrm>
            <a:off x="4429378" y="2515988"/>
            <a:ext cx="4486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B. HEMANTH KUMAR 		(23475A0524)</a:t>
            </a:r>
          </a:p>
          <a:p>
            <a:r>
              <a:rPr lang="en-IN" sz="1200" dirty="0"/>
              <a:t>G. NITHIN      		(23475A0520)</a:t>
            </a:r>
          </a:p>
          <a:p>
            <a:r>
              <a:rPr lang="en-IN" sz="1200" dirty="0"/>
              <a:t>K. ARJUN REDDY		(22471A05N1)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6138B6D-73A2-DED2-3C0C-03F11D0D8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>
            <a:extLst>
              <a:ext uri="{FF2B5EF4-FFF2-40B4-BE49-F238E27FC236}">
                <a16:creationId xmlns:a16="http://schemas.microsoft.com/office/drawing/2014/main" id="{6C6F0911-126B-6ED7-4451-1BC79C89222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131344"/>
            <a:ext cx="3648074" cy="505326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1DEA04A4-DD81-E175-683F-5DB65E94C4A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530AF66E-84EC-FFB4-2BFE-922AF398A284}"/>
              </a:ext>
            </a:extLst>
          </p:cNvPr>
          <p:cNvSpPr txBox="1"/>
          <p:nvPr/>
        </p:nvSpPr>
        <p:spPr>
          <a:xfrm>
            <a:off x="4267200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9B159F2-EE6B-8576-40DD-19628FCDE5E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480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 DB12</a:t>
            </a:r>
            <a:endParaRPr spc="-25"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231EB93B-3C65-2A53-DCF1-955B77AA7FAE}"/>
              </a:ext>
            </a:extLst>
          </p:cNvPr>
          <p:cNvSpPr txBox="1"/>
          <p:nvPr/>
        </p:nvSpPr>
        <p:spPr>
          <a:xfrm>
            <a:off x="7005320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AC81CF9-B497-C37F-5C28-EF904D53BEE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15" name="object 2"/>
          <p:cNvSpPr txBox="1">
            <a:spLocks noGrp="1"/>
          </p:cNvSpPr>
          <p:nvPr>
            <p:ph type="title"/>
          </p:nvPr>
        </p:nvSpPr>
        <p:spPr>
          <a:xfrm>
            <a:off x="917575" y="685800"/>
            <a:ext cx="10099675" cy="1619673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70332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ABSTRACT</a:t>
            </a:r>
            <a:br>
              <a:rPr lang="en-IN" spc="-10" dirty="0"/>
            </a:br>
            <a:endParaRPr spc="-1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FE9E84-97F6-FEC9-6E80-BC0ADD56D5CD}"/>
              </a:ext>
            </a:extLst>
          </p:cNvPr>
          <p:cNvSpPr txBox="1"/>
          <p:nvPr/>
        </p:nvSpPr>
        <p:spPr>
          <a:xfrm>
            <a:off x="1373187" y="1463206"/>
            <a:ext cx="10055225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improvement of generative speech technologies has made synthetic voices seem more humanlike, resulting in threats such as impersonation, misinformation, and compromised voice identity. We present an </a:t>
            </a:r>
            <a:r>
              <a:rPr lang="en-US" dirty="0" err="1"/>
              <a:t>audioonly</a:t>
            </a:r>
            <a:r>
              <a:rPr lang="en-US" dirty="0"/>
              <a:t> deepfake detector that utilizes ECAPA-TDNN (</a:t>
            </a:r>
            <a:r>
              <a:rPr lang="en-US" b="1" dirty="0"/>
              <a:t>Emphasized Channel Attention, Propagation, and Aggregation Time Delay Neural Network)</a:t>
            </a:r>
            <a:r>
              <a:rPr lang="en-US" dirty="0"/>
              <a:t> speaker embeddings with a simple binary classifier to mitigate these threats. Our experiments utilize the TIMIT-TTS dataset that has nearly 80,000 samples from twelve </a:t>
            </a:r>
            <a:r>
              <a:rPr lang="en-US" dirty="0" err="1"/>
              <a:t>textto</a:t>
            </a:r>
            <a:r>
              <a:rPr lang="en-US" dirty="0"/>
              <a:t>-speech systems. The results of our study showed that this embedding-based method performed particularly well, achieving 90% accuracy, F1 of 0.92, AUC of 0.93, and is shown to outperform the RawNet2 baseline consistently across different testing conditions. These results suggest that modeling at the embedding level appears to be a useful compromise between accuracy and efficiency and lends itself readily to real-world applications requiring security.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9035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8958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8284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A82E80-CF24-5862-DE2F-BED2D755FF1E}"/>
              </a:ext>
            </a:extLst>
          </p:cNvPr>
          <p:cNvSpPr txBox="1"/>
          <p:nvPr/>
        </p:nvSpPr>
        <p:spPr>
          <a:xfrm>
            <a:off x="1447800" y="2057400"/>
            <a:ext cx="965682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b="1" dirty="0"/>
              <a:t>Audio Deepfake Detection System:</a:t>
            </a:r>
            <a:r>
              <a:rPr lang="en-US" dirty="0"/>
              <a:t> A deep learning-based system designed to detect AI-generated or manipulated speech using advanced audio analysis techniques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b="1" dirty="0"/>
              <a:t>Feature Extraction:</a:t>
            </a:r>
            <a:r>
              <a:rPr lang="en-US" dirty="0"/>
              <a:t> Utilizes the ECAPA-TDNN model to capture detailed temporal and spectral features that distinguish real from synthetic voices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b="1" dirty="0"/>
              <a:t>Classification Performance:</a:t>
            </a:r>
            <a:r>
              <a:rPr lang="en-US" dirty="0"/>
              <a:t> Trained on the TIMIT–TTS dataset, achieving high accuracy and F1-score for robust deepfake audio detection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b="1" dirty="0"/>
              <a:t>Applications:</a:t>
            </a:r>
            <a:r>
              <a:rPr lang="en-US" dirty="0"/>
              <a:t> Supports voice authentication, media integrity verification, and forensic analysis to prevent audio-based misinformation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00" y="0"/>
            <a:ext cx="5562600" cy="624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LITERATURE</a:t>
            </a:r>
            <a:r>
              <a:rPr sz="3950" spc="-185" dirty="0"/>
              <a:t> </a:t>
            </a:r>
            <a:r>
              <a:rPr sz="3950" spc="-10" dirty="0"/>
              <a:t>SURVEY</a:t>
            </a:r>
            <a:endParaRPr sz="395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1297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DB12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918331"/>
              </p:ext>
            </p:extLst>
          </p:nvPr>
        </p:nvGraphicFramePr>
        <p:xfrm>
          <a:off x="684530" y="583901"/>
          <a:ext cx="10822939" cy="58523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1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54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46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95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9814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Title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Author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57225" marR="147955" indent="-49466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550" b="1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dirty="0">
                          <a:latin typeface="Calibri"/>
                          <a:cs typeface="Calibri"/>
                        </a:rPr>
                        <a:t>Name</a:t>
                      </a:r>
                      <a:r>
                        <a:rPr sz="1550" b="1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50" dirty="0">
                          <a:latin typeface="Calibri"/>
                          <a:cs typeface="Calibri"/>
                        </a:rPr>
                        <a:t>&amp; </a:t>
                      </a:r>
                      <a:r>
                        <a:rPr sz="1550" b="1" spc="-20" dirty="0">
                          <a:latin typeface="Calibri"/>
                          <a:cs typeface="Calibri"/>
                        </a:rPr>
                        <a:t>Year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88010" marR="367030" indent="-20891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Methodology Adapted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55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10" dirty="0">
                          <a:latin typeface="Calibri"/>
                          <a:cs typeface="Calibri"/>
                        </a:rPr>
                        <a:t>Findings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0" dirty="0">
                          <a:latin typeface="Calibri"/>
                          <a:cs typeface="Calibri"/>
                        </a:rPr>
                        <a:t>Gaps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13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dirty="0"/>
                        <a:t>TIMIT-TTS: A Text-to-Speech Dataset for Multimodal Synthetic Media Detection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dirty="0"/>
                        <a:t>   </a:t>
                      </a:r>
                      <a:r>
                        <a:rPr lang="en-IN" sz="1400" dirty="0"/>
                        <a:t>Davide Salvi 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i="1" dirty="0"/>
                        <a:t>IEEE</a:t>
                      </a:r>
                      <a:r>
                        <a:rPr lang="en-US" sz="1400" dirty="0"/>
                        <a:t>, 15 May 2023 </a:t>
                      </a:r>
                      <a:br>
                        <a:rPr lang="en-US" sz="1400" dirty="0"/>
                      </a:br>
                      <a:r>
                        <a:rPr lang="en-US" sz="1400" dirty="0">
                          <a:hlinkClick r:id="rId3"/>
                        </a:rPr>
                        <a:t>https://ieeexplore.ieee.org/document/10124769</a:t>
                      </a:r>
                      <a:endParaRPr lang="en-US" sz="1400" dirty="0"/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Removal of head/tail silences before alignment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Multimodal deepfake detection significantly outperforms unimodal detection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Lacks implementation of Voice Conversion (VC) methods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13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2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Multi-Speaker Text-to-Speech Training with Speaker Anonymized Data</a:t>
                      </a:r>
                      <a:endParaRPr lang="en-IN" sz="1400" dirty="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/>
                        <a:t>Wen-Chin       Huang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i="1" dirty="0"/>
                        <a:t> IEEE</a:t>
                      </a:r>
                      <a:r>
                        <a:rPr lang="en-US" sz="1400" dirty="0"/>
                        <a:t>, 17 October 2024  </a:t>
                      </a:r>
                      <a:r>
                        <a:rPr lang="en-US" sz="1400" dirty="0">
                          <a:hlinkClick r:id="rId4"/>
                        </a:rPr>
                        <a:t>https://ieeexplore.ieee.org/document/10517609</a:t>
                      </a:r>
                      <a:endParaRPr lang="en-US" sz="1400" dirty="0"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Voice Activity Detection (VAD) for silence removal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GAN-based SA produced most natural speech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No single anonymization system excels in both privacy and synthesis quality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465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3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Zero-Shot Voice Cloning Text-to-Speech for Dysphonia Disorder Speakers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 err="1"/>
                        <a:t>Kurniawati</a:t>
                      </a:r>
                      <a:r>
                        <a:rPr lang="en-IN" sz="1400" dirty="0"/>
                        <a:t> Azizah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i="1" dirty="0"/>
                        <a:t> IEEE</a:t>
                      </a:r>
                      <a:r>
                        <a:rPr lang="en-US" sz="1600" dirty="0"/>
                        <a:t>, 2 May 2024 </a:t>
                      </a:r>
                      <a:br>
                        <a:rPr lang="en-US" sz="1600" dirty="0"/>
                      </a:br>
                      <a:r>
                        <a:rPr lang="en-US" sz="1600" dirty="0">
                          <a:hlinkClick r:id="rId5"/>
                        </a:rPr>
                        <a:t>https://ieeexplore.ieee.org/document/10234403</a:t>
                      </a:r>
                      <a:endParaRPr lang="en-US" sz="1600" dirty="0"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sv-SE" sz="1400" dirty="0"/>
                        <a:t>d-vector speaker encoder (GE2E model)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Provided online demo with generated samples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Relied on </a:t>
                      </a:r>
                      <a:r>
                        <a:rPr lang="en-US" sz="1400" dirty="0" err="1"/>
                        <a:t>MosNet</a:t>
                      </a:r>
                      <a:r>
                        <a:rPr lang="en-US" sz="1400" dirty="0"/>
                        <a:t> auto-evaluation instead of human MOS raters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13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4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Indonesian Voice Cloning Text-to-Speech System with Vall-E-Based Model and Speech Enhancement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 err="1"/>
                        <a:t>Dessy</a:t>
                      </a:r>
                      <a:r>
                        <a:rPr lang="en-IN" sz="1400" dirty="0"/>
                        <a:t> Puji Lestari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NL" sz="1400" i="1" dirty="0"/>
                        <a:t>IEEE</a:t>
                      </a:r>
                      <a:r>
                        <a:rPr lang="nl-NL" sz="1400" dirty="0"/>
                        <a:t>, 18 December 2024  </a:t>
                      </a:r>
                      <a:r>
                        <a:rPr lang="nl-NL" sz="1400" dirty="0">
                          <a:hlinkClick r:id="rId6"/>
                        </a:rPr>
                        <a:t>https://ieeexplore.ieee.org/document/10806715</a:t>
                      </a:r>
                      <a:endParaRPr lang="nl-NL" sz="1400" dirty="0"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/>
                        <a:t>Punctuation </a:t>
                      </a:r>
                      <a:r>
                        <a:rPr lang="en-IN" sz="1400" dirty="0" err="1"/>
                        <a:t>remova</a:t>
                      </a:r>
                      <a:endParaRPr lang="en-IN" sz="1400" dirty="0"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 err="1"/>
                        <a:t>Upsampling</a:t>
                      </a:r>
                      <a:r>
                        <a:rPr lang="en-IN" sz="1400" dirty="0"/>
                        <a:t> to 24 kHz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/>
                        <a:t>-vector for similarity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 err="1"/>
                        <a:t>VoiceFixer</a:t>
                      </a:r>
                      <a:r>
                        <a:rPr lang="en-US" sz="1400" dirty="0"/>
                        <a:t> improved MOS (3.34 → 3.95) by reducing artifacts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Speaker similarity degraded for unseen voices (t-SNE cluster separation)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13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 err="1"/>
                        <a:t>EmoSphere</a:t>
                      </a:r>
                      <a:r>
                        <a:rPr lang="en-US" sz="1400" dirty="0"/>
                        <a:t>++: Emotion-Controllable Zero-Shot Text-to-Speech via Emotion-Adaptive Spherical Vector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 err="1"/>
                        <a:t>Dessy</a:t>
                      </a:r>
                      <a:r>
                        <a:rPr lang="en-IN" sz="1400" dirty="0"/>
                        <a:t> Puji Lestari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NL" sz="1400" i="1" dirty="0"/>
                        <a:t>IEEE</a:t>
                      </a:r>
                      <a:r>
                        <a:rPr lang="nl-NL" sz="1400" dirty="0"/>
                        <a:t>, 18 December 2024 </a:t>
                      </a:r>
                      <a:br>
                        <a:rPr lang="nl-NL" sz="1400" dirty="0"/>
                      </a:br>
                      <a:r>
                        <a:rPr lang="nl-NL" sz="1400" dirty="0">
                          <a:hlinkClick r:id="rId6"/>
                        </a:rPr>
                        <a:t>https://ieeexplore.ieee.org/document/10806715</a:t>
                      </a:r>
                      <a:endParaRPr lang="nl-NL" sz="1400" dirty="0"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Emotion coordinates transformed for style/intensity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Enabled zero-shot emotion transfer without explicit emotion/speaker labels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Difficulty generalizing to unseen emotion transfer scenarios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F133D-6812-33B9-F93D-40D7FF45D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463" y="283463"/>
            <a:ext cx="10101072" cy="677108"/>
          </a:xfrm>
        </p:spPr>
        <p:txBody>
          <a:bodyPr/>
          <a:lstStyle/>
          <a:p>
            <a:r>
              <a:rPr lang="en-IN" dirty="0"/>
              <a:t>                              GAPS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F16BAA4-3C2F-C2A1-8EC0-657DBFB83EA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8200" y="1305341"/>
            <a:ext cx="109728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Existing research focuses mainly on TTS-generated deepfakes, leaving voice-conversion (VC)–based                     attacks underexplored.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This creates a detection gap for real-world scenarios where VC is widely used.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Current anonymization systems fail to balance privacy preservation with high-quality synthesis.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As a result, no single framework provides reliable anonymized data for deepfake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Many studies rely 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auto-evaluation instead of human </a:t>
            </a:r>
            <a:r>
              <a:rPr lang="en-IN" dirty="0"/>
              <a:t>Mean Opinion Score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ratings.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This limits the accuracy and perceptual credibility of audio quality assessments.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4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like ECAPA-TDNN and RawNet2 perform poorly on unseen speakers.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Their reduced generalization leads to degraded speaker similarity and cluster separation.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5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methods struggle with unseen emotional and domain variations in speech.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This lack of robustness affects performance in diverse and cross-emotional deepfake scenarios.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D8B492-A619-4E96-920D-2D7F573A93C8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US" spc="-2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A1A4ED-8E87-C8E9-B21A-3137AAE5DC6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451475" y="6477382"/>
            <a:ext cx="3540125" cy="359073"/>
          </a:xfrm>
        </p:spPr>
        <p:txBody>
          <a:bodyPr/>
          <a:lstStyle/>
          <a:p>
            <a:pPr marL="12700">
              <a:lnSpc>
                <a:spcPts val="1410"/>
              </a:lnSpc>
            </a:pPr>
            <a:r>
              <a:rPr lang="en-IN" dirty="0"/>
              <a:t>Batch No.2      Batch No.DB12        </a:t>
            </a:r>
            <a:r>
              <a:rPr lang="en-IN" spc="-10" dirty="0"/>
              <a:t>Department</a:t>
            </a:r>
            <a:r>
              <a:rPr lang="en-IN" spc="-30" dirty="0"/>
              <a:t> </a:t>
            </a:r>
            <a:r>
              <a:rPr lang="en-IN" dirty="0"/>
              <a:t>of</a:t>
            </a:r>
            <a:r>
              <a:rPr lang="en-IN" spc="50" dirty="0"/>
              <a:t> </a:t>
            </a:r>
            <a:r>
              <a:rPr lang="en-IN" spc="-25" dirty="0"/>
              <a:t>CSE</a:t>
            </a:r>
            <a:endParaRPr lang="en-IN" dirty="0"/>
          </a:p>
          <a:p>
            <a:pPr marL="12700">
              <a:lnSpc>
                <a:spcPts val="1410"/>
              </a:lnSpc>
            </a:pPr>
            <a:r>
              <a:rPr lang="en-IN" dirty="0"/>
              <a:t>    </a:t>
            </a:r>
            <a:endParaRPr lang="en-IN" spc="-2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820B9B-D97C-7E0B-2CE0-B847FAC1D2C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lang="en-IN" spc="-25" smtClean="0"/>
              <a:t>5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895658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554" y="591924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88210">
              <a:lnSpc>
                <a:spcPct val="100000"/>
              </a:lnSpc>
              <a:spcBef>
                <a:spcPts val="130"/>
              </a:spcBef>
            </a:pPr>
            <a:r>
              <a:rPr spc="-35" dirty="0"/>
              <a:t>LITERATURE</a:t>
            </a:r>
            <a:r>
              <a:rPr spc="-204" dirty="0"/>
              <a:t> </a:t>
            </a:r>
            <a:r>
              <a:rPr spc="-10" dirty="0"/>
              <a:t>SURVEY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8284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450824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 No. DB12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86192" y="1638208"/>
            <a:ext cx="9367060" cy="466473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7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b="1" dirty="0"/>
              <a:t>M. </a:t>
            </a:r>
            <a:r>
              <a:rPr lang="en-US" b="1" dirty="0" err="1"/>
              <a:t>Aljasem</a:t>
            </a:r>
            <a:r>
              <a:rPr lang="en-US" b="1" dirty="0"/>
              <a:t> et al. [1]:</a:t>
            </a:r>
            <a:br>
              <a:rPr lang="en-US" dirty="0"/>
            </a:br>
            <a:r>
              <a:rPr lang="en-US" dirty="0"/>
              <a:t>They used a CNN-LSTM model for fake speech detection, but their work did not address voice-conversion (VC) deepfakes, which remain largely unexplored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b="1" dirty="0"/>
              <a:t>Jee-</a:t>
            </a:r>
            <a:r>
              <a:rPr lang="en-US" b="1" dirty="0" err="1"/>
              <a:t>weon</a:t>
            </a:r>
            <a:r>
              <a:rPr lang="en-US" b="1" dirty="0"/>
              <a:t> Jung et al. [2]:</a:t>
            </a:r>
            <a:br>
              <a:rPr lang="en-US" dirty="0"/>
            </a:br>
            <a:r>
              <a:rPr lang="en-US" dirty="0"/>
              <a:t>They introduced ECAPA-TDNN for strong speaker embeddings, yet the model still struggles to generalize to unseen speakers and emotional variations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b="1" dirty="0"/>
              <a:t>H. Tak et al. [3]:</a:t>
            </a:r>
            <a:br>
              <a:rPr lang="en-US" dirty="0"/>
            </a:br>
            <a:r>
              <a:rPr lang="en-US" dirty="0"/>
              <a:t>RawNet2 handles raw audio well, but its performance drops on unseen voices, showing a gap in cross-speaker and cross-emotion robustness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b="1" dirty="0" err="1"/>
              <a:t>Desplanques</a:t>
            </a:r>
            <a:r>
              <a:rPr lang="en-US" b="1" dirty="0"/>
              <a:t> et al. (</a:t>
            </a:r>
            <a:r>
              <a:rPr lang="en-US" b="1" dirty="0" err="1"/>
              <a:t>SpeechBrain</a:t>
            </a:r>
            <a:r>
              <a:rPr lang="en-US" b="1" dirty="0"/>
              <a:t>, 2020):</a:t>
            </a:r>
            <a:br>
              <a:rPr lang="en-US" dirty="0"/>
            </a:br>
            <a:r>
              <a:rPr lang="en-US" dirty="0" err="1"/>
              <a:t>SpeechBrain</a:t>
            </a:r>
            <a:r>
              <a:rPr lang="en-US" dirty="0"/>
              <a:t> provides scalable tools like ECAPA-TDNN, but it does not solve the issue of balancing privacy and synthesis quality in anonymized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b="1" dirty="0"/>
              <a:t>Yi Zhao et al. [4]:</a:t>
            </a:r>
            <a:br>
              <a:rPr lang="en-US" dirty="0"/>
            </a:br>
            <a:r>
              <a:rPr lang="en-US" dirty="0"/>
              <a:t>Their spectrogram-based methods detect frequency artifacts, but they rely mainly on automated evaluations (e.g., </a:t>
            </a:r>
            <a:r>
              <a:rPr lang="en-US" dirty="0" err="1"/>
              <a:t>MosNet</a:t>
            </a:r>
            <a:r>
              <a:rPr lang="en-US" dirty="0"/>
              <a:t>), lacking human MOS validation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6874" y="60960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027555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-170" dirty="0"/>
              <a:t> </a:t>
            </a:r>
            <a:r>
              <a:rPr spc="-50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373187" y="2265861"/>
            <a:ext cx="9445625" cy="3711272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2000" b="1" dirty="0"/>
              <a:t>Growing Threat of Synthetic Speech:</a:t>
            </a:r>
            <a:r>
              <a:rPr lang="en-US" sz="2000" dirty="0"/>
              <a:t> Deepfake audio can convincingly mimic real voices, posing serious risks to privacy, security, and misinformation control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2000" b="1" dirty="0"/>
              <a:t>Lack of Robust Detection Models:</a:t>
            </a:r>
            <a:r>
              <a:rPr lang="en-US" sz="2000" dirty="0"/>
              <a:t> Many existing systems struggle to distinguish between genuine and AI-generated audio, especially when speech is natural and noise-free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2000" b="1" dirty="0"/>
              <a:t>Feature Extraction Challenges:</a:t>
            </a:r>
            <a:r>
              <a:rPr lang="en-US" sz="2000" dirty="0"/>
              <a:t> Traditional acoustic feature methods fail to capture subtle speech patterns and temporal cues present in deepfake audio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5863" y="60960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4544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8284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22491" y="1930097"/>
            <a:ext cx="9979025" cy="3738011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2000" b="1" dirty="0"/>
              <a:t>Develop a Robust Detection Framework:</a:t>
            </a:r>
            <a:r>
              <a:rPr lang="en-US" sz="2000" dirty="0"/>
              <a:t> Build a dynamic deepfake detection system capable of identifying synthetic audio with high precision and adaptability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2000" b="1" dirty="0"/>
              <a:t>Leverage Advanced Audio Embeddings:</a:t>
            </a:r>
            <a:r>
              <a:rPr lang="en-US" sz="2000" dirty="0"/>
              <a:t> Utilize ECAPA-TDNN for extracting discriminative speaker and speech features from real and fake audio samples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2000" b="1" dirty="0"/>
              <a:t>Ensure Scalability and Generalization:</a:t>
            </a:r>
            <a:r>
              <a:rPr lang="en-US" sz="2000" dirty="0"/>
              <a:t> Design a model that performs consistently across diverse datasets like TIMIT and TIMIT-TTS without retraining for new data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2000" b="1" dirty="0"/>
              <a:t>Enable Real-Time Detection:</a:t>
            </a:r>
            <a:r>
              <a:rPr lang="en-US" sz="2000" dirty="0"/>
              <a:t> Implement an efficient pipeline for quick analysis and accurate classification suitable for deployment in real-world applications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3953" y="238197"/>
            <a:ext cx="10101072" cy="1200005"/>
          </a:xfrm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BLOCK</a:t>
            </a:r>
            <a:r>
              <a:rPr sz="3950" spc="60" dirty="0"/>
              <a:t> </a:t>
            </a:r>
            <a:r>
              <a:rPr sz="3950" dirty="0"/>
              <a:t>DIAGRAM</a:t>
            </a:r>
            <a:r>
              <a:rPr sz="3950" spc="90" dirty="0"/>
              <a:t> </a:t>
            </a:r>
            <a:r>
              <a:rPr sz="3950" dirty="0"/>
              <a:t>OR</a:t>
            </a:r>
            <a:r>
              <a:rPr sz="3950" spc="70" dirty="0"/>
              <a:t> </a:t>
            </a:r>
            <a:r>
              <a:rPr sz="3950" dirty="0"/>
              <a:t>FLOW</a:t>
            </a:r>
            <a:r>
              <a:rPr sz="3950" spc="-60" dirty="0"/>
              <a:t> </a:t>
            </a:r>
            <a:r>
              <a:rPr sz="3950" spc="-10" dirty="0"/>
              <a:t>DIAGRAM</a:t>
            </a:r>
            <a:endParaRPr sz="395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 No. DB12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pic>
        <p:nvPicPr>
          <p:cNvPr id="9" name="Image 25">
            <a:extLst>
              <a:ext uri="{FF2B5EF4-FFF2-40B4-BE49-F238E27FC236}">
                <a16:creationId xmlns:a16="http://schemas.microsoft.com/office/drawing/2014/main" id="{1A2A1739-1B5F-A3BE-F474-C43EDCE4F830}"/>
              </a:ext>
            </a:extLst>
          </p:cNvPr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43200" y="1066800"/>
            <a:ext cx="5791200" cy="538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6874" y="55418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1020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8284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5052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 No. DB12 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7315200" y="6443662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981200"/>
            <a:ext cx="10402951" cy="416678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IN" b="1" dirty="0"/>
              <a:t>Data Collection</a:t>
            </a:r>
            <a:r>
              <a:rPr lang="en-US" b="1" dirty="0"/>
              <a:t>:</a:t>
            </a:r>
            <a:r>
              <a:rPr lang="en-US" dirty="0"/>
              <a:t> Collect and organize genuine and synthetic speech samples from TIMIT and TIMIT-TTS datasets for training and evaluation.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b="1" dirty="0"/>
              <a:t>Audio Preprocessing:</a:t>
            </a:r>
            <a:r>
              <a:rPr lang="en-US" dirty="0"/>
              <a:t> Normalize, resample to 16 kHz, convert to mono, and remove silence or noise to ensure consistent audio quality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b="1" dirty="0"/>
              <a:t>Feature Extraction:</a:t>
            </a:r>
            <a:r>
              <a:rPr lang="en-US" dirty="0"/>
              <a:t> Use ECAPA-TDNN to extract robust embeddings that capture speaker identity and vocal characteristics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b="1" dirty="0"/>
              <a:t>Model Training:</a:t>
            </a:r>
            <a:r>
              <a:rPr lang="en-US" dirty="0"/>
              <a:t> Train the classifier to distinguish between real and fake voices using extracted embeddings and optimized loss functions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b="1" dirty="0"/>
              <a:t>Evaluation and Testing:</a:t>
            </a:r>
            <a:r>
              <a:rPr lang="en-US" dirty="0"/>
              <a:t> Assess performance through metrics like accuracy, F1-score, and AUC to ensure reliable deepfake detection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595880">
              <a:lnSpc>
                <a:spcPct val="100000"/>
              </a:lnSpc>
              <a:spcBef>
                <a:spcPts val="130"/>
              </a:spcBef>
            </a:pPr>
            <a:r>
              <a:rPr spc="-45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8284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No.2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DB12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813305"/>
            <a:ext cx="9834245" cy="400776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9235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dirty="0"/>
              <a:t>Programming Environment:</a:t>
            </a:r>
            <a:r>
              <a:rPr lang="en-US" dirty="0"/>
              <a:t> The system is built using Python 3.10, integrating libraries like OpenCV, Matplotlib, and Scikit-learn for audio processing, visualization, and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41300" marR="5080" indent="-229235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dirty="0"/>
              <a:t>Development Platform:</a:t>
            </a:r>
            <a:r>
              <a:rPr lang="en-US" dirty="0"/>
              <a:t> Implementation is performed on both local machines and Google Colab to utilize GPU acceleration for efficient model training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41300" marR="5080" indent="-229235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IN" b="1" dirty="0"/>
              <a:t>Hardware Setup:</a:t>
            </a:r>
            <a:r>
              <a:rPr lang="en-IN" dirty="0"/>
              <a:t> The setup includes an Intel Core i5-12450H CPU, 8 GB RAM, and an NVIDIA Tesla T4 GPU with 16 GB VRAM for fast computation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41300" marR="5080" indent="-229235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dirty="0"/>
              <a:t>Operating System:</a:t>
            </a:r>
            <a:r>
              <a:rPr lang="en-US" dirty="0"/>
              <a:t> The project runs on Windows 11 (64-bit) to ensure compatibility and stable performance across environments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41300" marR="5080" indent="-229235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IN"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No.2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DB12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335353" y="1676400"/>
            <a:ext cx="9445626" cy="129644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>
              <a:lnSpc>
                <a:spcPct val="150000"/>
              </a:lnSpc>
              <a:buClrTx/>
              <a:buFontTx/>
              <a:buNone/>
            </a:pPr>
            <a:r>
              <a:rPr lang="en-US" dirty="0"/>
              <a:t>The proposed Audio-Based Deepfake Detection System demonstrates strong accuracy, robustness, and efficiency on the TIMIT and TIMIT-TTS datasets, effectively distinguishing real and synthetic voices.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BB28D4-F927-004C-A487-05EDF47E3889}"/>
              </a:ext>
            </a:extLst>
          </p:cNvPr>
          <p:cNvSpPr txBox="1"/>
          <p:nvPr/>
        </p:nvSpPr>
        <p:spPr>
          <a:xfrm>
            <a:off x="1271181" y="3173359"/>
            <a:ext cx="5271763" cy="2257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b="1" dirty="0"/>
              <a:t>TIMIT-TTS Dataset Performance:</a:t>
            </a:r>
          </a:p>
          <a:p>
            <a:pPr>
              <a:defRPr/>
            </a:pPr>
            <a:r>
              <a:rPr lang="en-IN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b="1" dirty="0"/>
              <a:t>Model Used:</a:t>
            </a:r>
            <a:r>
              <a:rPr lang="en-IN" dirty="0"/>
              <a:t> ECAPA-TDNN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b="1" dirty="0"/>
              <a:t>Accuracy:</a:t>
            </a:r>
            <a:r>
              <a:rPr lang="en-IN" dirty="0"/>
              <a:t> 94.7%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b="1" dirty="0"/>
              <a:t>F1-Score:</a:t>
            </a:r>
            <a:r>
              <a:rPr lang="en-IN" dirty="0"/>
              <a:t> 0.95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b="1" dirty="0"/>
              <a:t>AUC:</a:t>
            </a:r>
            <a:r>
              <a:rPr lang="en-IN" dirty="0"/>
              <a:t> 0.98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9BE648-DFF4-15E9-BC50-96236A269277}"/>
              </a:ext>
            </a:extLst>
          </p:cNvPr>
          <p:cNvSpPr txBox="1"/>
          <p:nvPr/>
        </p:nvSpPr>
        <p:spPr>
          <a:xfrm>
            <a:off x="6400800" y="3173359"/>
            <a:ext cx="4596219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b="1" dirty="0"/>
              <a:t>Comparative Model (RawNet2) Performance</a:t>
            </a:r>
            <a:r>
              <a:rPr lang="en-US" b="1" dirty="0"/>
              <a:t>:</a:t>
            </a:r>
          </a:p>
          <a:p>
            <a:pPr>
              <a:defRPr/>
            </a:pPr>
            <a:endParaRPr lang="en-U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b="1" dirty="0"/>
              <a:t>Model Used</a:t>
            </a:r>
            <a:r>
              <a:rPr lang="en-IN" dirty="0"/>
              <a:t>:RawNet2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b="1" dirty="0"/>
              <a:t>Accuracy:</a:t>
            </a:r>
            <a:r>
              <a:rPr lang="en-IN" dirty="0"/>
              <a:t> 88.3%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b="1" dirty="0"/>
              <a:t>F1-Score:</a:t>
            </a:r>
            <a:r>
              <a:rPr lang="en-IN" dirty="0"/>
              <a:t> 0.89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b="1" dirty="0"/>
              <a:t>AUC:</a:t>
            </a:r>
            <a:r>
              <a:rPr lang="en-IN" dirty="0"/>
              <a:t> 0.92</a:t>
            </a:r>
            <a:endParaRPr lang="en-IN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666296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588010">
              <a:lnSpc>
                <a:spcPct val="100000"/>
              </a:lnSpc>
              <a:spcBef>
                <a:spcPts val="130"/>
              </a:spcBef>
            </a:pPr>
            <a:r>
              <a:rPr dirty="0"/>
              <a:t>CONCLUSION</a:t>
            </a:r>
            <a:r>
              <a:rPr spc="-140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FUTURE</a:t>
            </a:r>
            <a:r>
              <a:rPr spc="-120" dirty="0"/>
              <a:t> </a:t>
            </a:r>
            <a:r>
              <a:rPr spc="-10" dirty="0"/>
              <a:t>SCOPE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No.2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DB12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021204" y="2057400"/>
            <a:ext cx="8149590" cy="4365298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/>
              <a:t>The proposed Audio Deepfake Detection System using ECAPA-TDNN accurately distinguishes real and synthetic voices, achieving high performance on the TIMIT-TTS dataset</a:t>
            </a:r>
            <a:r>
              <a:rPr lang="en-US" altLang="en-US" sz="1800" dirty="0"/>
              <a:t>5.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/>
              <a:t>The model is efficient, scalable, and suitable for real-time deployment in speech authentication and media forensics</a:t>
            </a:r>
            <a:r>
              <a:rPr lang="en-US" altLang="en-US" sz="1800" dirty="0"/>
              <a:t>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/>
              <a:t>Future work includes extending detection to multi-language and cross-speaker deepfakes for broader applicability</a:t>
            </a:r>
            <a:r>
              <a:rPr lang="en-US" altLang="en-US" sz="1800" dirty="0"/>
              <a:t>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/>
              <a:t>A real-time web interface with visualization and multimodal (audio-video) integration will enhance user accessibility and system robustness</a:t>
            </a:r>
            <a:r>
              <a:rPr lang="en-US" altLang="en-US" sz="1800" dirty="0"/>
              <a:t>.</a:t>
            </a:r>
            <a:endParaRPr lang="en-IN" altLang="en-US" sz="1800" dirty="0"/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endParaRPr spc="-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070EC-E559-94C0-A645-EA6072B89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493" y="685800"/>
            <a:ext cx="10101072" cy="1292662"/>
          </a:xfrm>
        </p:spPr>
        <p:txBody>
          <a:bodyPr/>
          <a:lstStyle/>
          <a:p>
            <a:r>
              <a:rPr lang="en-IN" sz="4000" dirty="0"/>
              <a:t>DATASET DETAILS – TIMIT DATASET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B2BE0-05B2-7137-C147-3869EBD53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71545"/>
            <a:ext cx="10363200" cy="374718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Real Human Speech Corpus:</a:t>
            </a:r>
            <a:br>
              <a:rPr lang="en-US" sz="1800" dirty="0"/>
            </a:br>
            <a:r>
              <a:rPr lang="en-US" sz="1800" dirty="0"/>
              <a:t>TIMIT contains high-quality recordings of natural human speech collected from multiple speakers across different dialect regions.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Phonetically Rich Content:</a:t>
            </a:r>
            <a:br>
              <a:rPr lang="en-US" sz="1800" dirty="0"/>
            </a:br>
            <a:r>
              <a:rPr lang="en-US" sz="1800" dirty="0"/>
              <a:t>The dataset includes carefully designed sentences that cover a wide range of phonemes, supporting detailed speech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Clean Recording Conditions:</a:t>
            </a:r>
            <a:br>
              <a:rPr lang="en-US" sz="1800" dirty="0"/>
            </a:br>
            <a:r>
              <a:rPr lang="en-US" sz="1800" dirty="0"/>
              <a:t>All audio samples are recorded in controlled environments with minimal background noise and channel distortion.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Benchmark Dataset:</a:t>
            </a:r>
            <a:br>
              <a:rPr lang="en-US" sz="1800" dirty="0"/>
            </a:br>
            <a:r>
              <a:rPr lang="en-US" sz="1800" dirty="0"/>
              <a:t>Widely used in speech recognition and speaker modeling research, making it reliable for evaluation and comparison.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C29DC-62EF-9239-C9B7-E6A70E70A21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lang="en-IN" spc="-2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BFEB7-D644-D4DF-15E9-A93ADC9F1B5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CDBE4-B04D-BF79-47DC-F52FA3EFE2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lang="en-IN" spc="-25" smtClean="0"/>
              <a:t>14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4286140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A2EFD-1EC5-1003-58E7-5646212F9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554" y="846892"/>
            <a:ext cx="10101072" cy="677108"/>
          </a:xfrm>
        </p:spPr>
        <p:txBody>
          <a:bodyPr/>
          <a:lstStyle/>
          <a:p>
            <a:pPr algn="ctr"/>
            <a:r>
              <a:rPr lang="en-IN" dirty="0"/>
              <a:t>AUDIO PREPROCESSING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ECEE8-6DE5-A5E7-7982-E8EAAA956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4960" y="1981200"/>
            <a:ext cx="9369426" cy="429822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Sampling Rate Normalization:</a:t>
            </a:r>
            <a:br>
              <a:rPr lang="en-US" sz="1800" dirty="0"/>
            </a:br>
            <a:r>
              <a:rPr lang="en-US" sz="1800" dirty="0"/>
              <a:t>All audio files are resampled to 16 kHz to ensure uniform temporal resolution across datasets.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Mono Channel Conversion:</a:t>
            </a:r>
            <a:br>
              <a:rPr lang="en-US" sz="1800" dirty="0"/>
            </a:br>
            <a:r>
              <a:rPr lang="en-US" sz="1800" dirty="0"/>
              <a:t>Stereo audio signals are converted to mono to reduce computational complexity and maintain consistency.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Amplitude Normalization:</a:t>
            </a:r>
            <a:br>
              <a:rPr lang="en-US" sz="1800" dirty="0"/>
            </a:br>
            <a:r>
              <a:rPr lang="en-US" sz="1800" dirty="0"/>
              <a:t>Audio amplitudes are normalized to stabilize signal intensity during feature extraction.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Silence Removal:</a:t>
            </a:r>
            <a:br>
              <a:rPr lang="en-US" sz="1800" dirty="0"/>
            </a:br>
            <a:r>
              <a:rPr lang="en-US" sz="1800" dirty="0"/>
              <a:t>Leading and trailing silent segments are trimmed to focus analysis on speech-relevant regions.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E60903-39AE-0B26-6F1F-36983D6D4C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lang="en-IN" spc="-2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3983C-FF1A-47D4-56E1-DA14E3FA9DC6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ADEFA-30D4-B5B8-6982-0E15B035521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lang="en-IN" spc="-25" smtClean="0"/>
              <a:t>15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586013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65EA6-B6D0-F7EF-FA6C-891D34247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554" y="833645"/>
            <a:ext cx="10101072" cy="553998"/>
          </a:xfrm>
        </p:spPr>
        <p:txBody>
          <a:bodyPr/>
          <a:lstStyle/>
          <a:p>
            <a:r>
              <a:rPr lang="en-IN" sz="3600" dirty="0"/>
              <a:t>FEATURE EXTRACTION USING ECAPA-TDNN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A35A5-4D6C-3FF1-F3C5-28681424F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4" y="1730872"/>
            <a:ext cx="9826625" cy="4016484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Speaker Embedding Generation:</a:t>
            </a:r>
            <a:br>
              <a:rPr lang="en-US" sz="1800" dirty="0"/>
            </a:br>
            <a:r>
              <a:rPr lang="en-US" sz="1800" dirty="0"/>
              <a:t>ECAPA-TDNN extracts fixed-length embeddings that capture speaker-specific and speech-related characteristics.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Temporal Dependency Modeling:</a:t>
            </a:r>
            <a:br>
              <a:rPr lang="en-US" sz="1800" dirty="0"/>
            </a:br>
            <a:r>
              <a:rPr lang="en-US" sz="1800" dirty="0"/>
              <a:t>The architecture effectively models long-range temporal patterns present in speech signals.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Channel Attention Mechanism:</a:t>
            </a:r>
            <a:br>
              <a:rPr lang="en-US" sz="1800" dirty="0"/>
            </a:br>
            <a:r>
              <a:rPr lang="en-US" sz="1800" dirty="0"/>
              <a:t>Emphasized channel attention highlights informative frequency components in the audio.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Robust Feature Representation:</a:t>
            </a:r>
            <a:br>
              <a:rPr lang="en-US" sz="1800" dirty="0"/>
            </a:br>
            <a:r>
              <a:rPr lang="en-US" sz="1800" dirty="0"/>
              <a:t>Generated embeddings are resilient to noise, speaker variation, and recording differences.</a:t>
            </a:r>
          </a:p>
          <a:p>
            <a:endParaRPr lang="en-IN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2A685-7E47-AA38-0543-4F95A24E283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lang="en-IN" spc="-2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63567-DDC1-F31D-BACF-3EE49F9DD63A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A5FEE-8BE0-2C42-F0E5-E518B31898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lang="en-IN" spc="-25" smtClean="0"/>
              <a:t>16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176082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0388A-1561-AD56-0133-16BC1B7F4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192" y="914400"/>
            <a:ext cx="10101072" cy="677108"/>
          </a:xfrm>
        </p:spPr>
        <p:txBody>
          <a:bodyPr/>
          <a:lstStyle/>
          <a:p>
            <a:pPr algn="ctr"/>
            <a:r>
              <a:rPr lang="en-IN" dirty="0"/>
              <a:t>MODEL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9E309-D561-5CD9-E10D-A572F3F67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1905000"/>
            <a:ext cx="9674225" cy="3886200"/>
          </a:xfrm>
        </p:spPr>
        <p:txBody>
          <a:bodyPr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/>
              <a:t>Input Audio Processing:</a:t>
            </a:r>
            <a:br>
              <a:rPr lang="en-IN" sz="1800" dirty="0"/>
            </a:br>
            <a:r>
              <a:rPr lang="en-IN" sz="1800" dirty="0" err="1"/>
              <a:t>Preprocessed</a:t>
            </a:r>
            <a:r>
              <a:rPr lang="en-IN" sz="1800" dirty="0"/>
              <a:t> audio samples are provided as input to the ECAPA-TDNN model.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/>
              <a:t>Embedding Network:</a:t>
            </a:r>
            <a:br>
              <a:rPr lang="en-IN" sz="1800" dirty="0"/>
            </a:br>
            <a:r>
              <a:rPr lang="en-IN" sz="1800" dirty="0"/>
              <a:t>ECAPA-TDNN transforms raw speech signals into discriminative speaker embeddings.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/>
              <a:t>Feature Normalization Layer:</a:t>
            </a:r>
            <a:br>
              <a:rPr lang="en-IN" sz="1800" dirty="0"/>
            </a:br>
            <a:r>
              <a:rPr lang="en-IN" sz="1800" dirty="0"/>
              <a:t>Z-score normalization improves classifier stability and convergence.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/>
              <a:t>Binary Classification Layer:</a:t>
            </a:r>
            <a:br>
              <a:rPr lang="en-IN" sz="1800" dirty="0"/>
            </a:br>
            <a:r>
              <a:rPr lang="en-IN" sz="1800" dirty="0"/>
              <a:t>A logistic regression classifier predicts whether the input audio is real or fake.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3F0BCB-17FE-FDC8-5F6F-ECDB5B5F464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lang="en-IN" spc="-2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64133-2AF4-D56D-3F50-8DA80C39BEDC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B0330-EC26-B6B6-A4A2-34C6AEFDDA7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lang="en-IN" spc="-25" smtClean="0"/>
              <a:t>17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664056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EE7B4-B989-7D5C-4562-E5BC66BFD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62" y="838200"/>
            <a:ext cx="10101072" cy="677108"/>
          </a:xfrm>
        </p:spPr>
        <p:txBody>
          <a:bodyPr/>
          <a:lstStyle/>
          <a:p>
            <a:pPr algn="ctr"/>
            <a:r>
              <a:rPr lang="en-IN" dirty="0"/>
              <a:t>APPLICATIONS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68557-3760-3FA4-1752-6A4A0616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4685" y="1493185"/>
            <a:ext cx="9598026" cy="4993675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Voice Authentication Systems:</a:t>
            </a:r>
            <a:br>
              <a:rPr lang="en-US" sz="1800" dirty="0"/>
            </a:br>
            <a:r>
              <a:rPr lang="en-US" sz="1800" dirty="0"/>
              <a:t>The proposed system helps protect voice-based biometric authentication by detecting spoofed or synthetic speech attempts.</a:t>
            </a:r>
            <a:br>
              <a:rPr lang="en-US" sz="1800" dirty="0"/>
            </a:br>
            <a:r>
              <a:rPr lang="en-US" sz="1800" dirty="0"/>
              <a:t>This prevents unauthorized access to secure systems that rely on speaker verification.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Media Forensics:</a:t>
            </a:r>
            <a:br>
              <a:rPr lang="en-US" sz="1800" dirty="0"/>
            </a:br>
            <a:r>
              <a:rPr lang="en-US" sz="1800" dirty="0"/>
              <a:t>The model assists digital forensic experts in identifying manipulated or AI-generated audio content.</a:t>
            </a:r>
            <a:br>
              <a:rPr lang="en-US" sz="1800" dirty="0"/>
            </a:br>
            <a:r>
              <a:rPr lang="en-US" sz="1800" dirty="0"/>
              <a:t>It ensures the authenticity and integrity of audio evidence used in legal and investigative processes.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Fraud Detection:</a:t>
            </a:r>
            <a:br>
              <a:rPr lang="en-US" sz="1800" dirty="0"/>
            </a:br>
            <a:r>
              <a:rPr lang="en-US" sz="1800" dirty="0"/>
              <a:t>The system is effective in detecting voice impersonation attacks commonly used in call-center and banking fraud.</a:t>
            </a:r>
            <a:br>
              <a:rPr lang="en-US" sz="1800" dirty="0"/>
            </a:br>
            <a:r>
              <a:rPr lang="en-US" sz="1800" dirty="0"/>
              <a:t>It helps prevent financial losses by identifying synthetic speech during suspicious communications.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B79EDB-A6B2-8AA2-1104-9AE01454AB2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lang="en-IN" spc="-2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5DFC7-A2BE-FF98-7821-5C3DFA5F62AA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3C1C3-8F81-0EEC-4ADE-7CBE02D16CC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lang="en-IN" spc="-25" smtClean="0"/>
              <a:t>18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020379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9FB1-4D40-688F-14A5-77734F34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192" y="762000"/>
            <a:ext cx="10101072" cy="615553"/>
          </a:xfrm>
        </p:spPr>
        <p:txBody>
          <a:bodyPr/>
          <a:lstStyle/>
          <a:p>
            <a:r>
              <a:rPr lang="en-IN" sz="4000" dirty="0"/>
              <a:t>LOGISTIC REGRESSION CLASSIFIER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9DC8F-A59B-CFCB-02E0-3490D5C8D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6192" y="1676400"/>
            <a:ext cx="9826625" cy="416267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Binary Classification Model:</a:t>
            </a:r>
            <a:br>
              <a:rPr lang="en-US" sz="1800" dirty="0"/>
            </a:br>
            <a:r>
              <a:rPr lang="en-US" sz="1800" dirty="0"/>
              <a:t>Logistic Regression is used to classify audio samples into real and fake categories.</a:t>
            </a:r>
            <a:br>
              <a:rPr lang="en-US" sz="1800" dirty="0"/>
            </a:br>
            <a:r>
              <a:rPr lang="en-US" sz="1800" dirty="0"/>
              <a:t>It provides a simple yet effective decision boundary for deepfake detection.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Probability-Based Output:</a:t>
            </a:r>
            <a:br>
              <a:rPr lang="en-US" sz="1800" dirty="0"/>
            </a:br>
            <a:r>
              <a:rPr lang="en-US" sz="1800" dirty="0"/>
              <a:t>The model computes probability scores using a sigmoid activation function.</a:t>
            </a:r>
            <a:br>
              <a:rPr lang="en-US" sz="1800" dirty="0"/>
            </a:br>
            <a:r>
              <a:rPr lang="en-US" sz="1800" dirty="0"/>
              <a:t>This allows confident threshold-based classification decisions.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Lightweight and Efficient:</a:t>
            </a:r>
            <a:br>
              <a:rPr lang="en-US" sz="1800" dirty="0"/>
            </a:br>
            <a:r>
              <a:rPr lang="en-US" sz="1800" dirty="0"/>
              <a:t>Logistic Regression requires minimal computational resources during training and inference.</a:t>
            </a:r>
            <a:br>
              <a:rPr lang="en-US" sz="1800" dirty="0"/>
            </a:br>
            <a:r>
              <a:rPr lang="en-US" sz="1800" dirty="0"/>
              <a:t>This makes it suitable for real-time and low-latency applications.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0F91A-0D31-08E6-52E6-FC482B7D340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lang="en-IN" spc="-2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DEC8B-5FEE-2053-696D-95DBBDF8E133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EE2C4-C3AD-4127-CEC4-BC287A50609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lang="en-IN" spc="-25" smtClean="0"/>
              <a:t>19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4198780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8462-36FA-C5AD-FB0C-10FC2E651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137" y="762000"/>
            <a:ext cx="10101072" cy="615553"/>
          </a:xfrm>
        </p:spPr>
        <p:txBody>
          <a:bodyPr/>
          <a:lstStyle/>
          <a:p>
            <a:r>
              <a:rPr lang="en-IN" sz="4000" dirty="0"/>
              <a:t>REAL-TIME DETECTION CAPABILITY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77681-ABCF-9C18-73BF-0824CD185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4" y="1730872"/>
            <a:ext cx="10741025" cy="5409173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Low Latency Processing:</a:t>
            </a:r>
            <a:br>
              <a:rPr lang="en-US" sz="1800" dirty="0"/>
            </a:br>
            <a:r>
              <a:rPr lang="en-US" sz="1800" dirty="0"/>
              <a:t>The system processes audio embeddings instead of raw waveforms, reducing computation time.</a:t>
            </a:r>
            <a:br>
              <a:rPr lang="en-US" sz="1800" dirty="0"/>
            </a:br>
            <a:r>
              <a:rPr lang="en-US" sz="1800" dirty="0"/>
              <a:t>This enables fast prediction suitable for real-time environments.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Efficient Inference Pipeline:</a:t>
            </a:r>
            <a:br>
              <a:rPr lang="en-US" sz="1800" dirty="0"/>
            </a:br>
            <a:r>
              <a:rPr lang="en-US" sz="1800" dirty="0"/>
              <a:t>The lightweight ECAPA-TDNN and logistic regression combination ensures quick decision making.</a:t>
            </a:r>
            <a:br>
              <a:rPr lang="en-US" sz="1800" dirty="0"/>
            </a:br>
            <a:r>
              <a:rPr lang="en-US" sz="1800" dirty="0"/>
              <a:t>Inference can be performed within milliseconds on standard hardware.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Live Application Support:</a:t>
            </a:r>
            <a:br>
              <a:rPr lang="en-US" sz="1800" dirty="0"/>
            </a:br>
            <a:r>
              <a:rPr lang="en-US" sz="1800" dirty="0"/>
              <a:t>The framework can be integrated into live voice-based systems such as call monitoring.</a:t>
            </a:r>
            <a:br>
              <a:rPr lang="en-US" sz="1800" dirty="0"/>
            </a:br>
            <a:r>
              <a:rPr lang="en-US" sz="1800" dirty="0"/>
              <a:t>It supports continuous audio analysis without noticeable delays.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71C0A5-6553-939E-60E5-B6CDE01B42C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lang="en-IN" spc="-2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69ED4-D81A-4C34-DD66-6A378DF54A8A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8AC66-321B-F9BB-A9CC-A87443CCDFC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lang="en-IN" spc="-25" smtClean="0"/>
              <a:t>20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793649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31628-5797-17AB-9B02-B8E05F71A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74" y="834819"/>
            <a:ext cx="10101072" cy="677108"/>
          </a:xfrm>
        </p:spPr>
        <p:txBody>
          <a:bodyPr/>
          <a:lstStyle/>
          <a:p>
            <a:pPr algn="ctr"/>
            <a:r>
              <a:rPr lang="en-IN" dirty="0"/>
              <a:t>RELATED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811BA-F46B-7B19-1F2E-79EFA1377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4" y="1730872"/>
            <a:ext cx="10512425" cy="416267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Traditional Feature-Based Methods:</a:t>
            </a:r>
            <a:br>
              <a:rPr lang="en-US" sz="1800" dirty="0"/>
            </a:br>
            <a:r>
              <a:rPr lang="en-US" sz="1800" dirty="0"/>
              <a:t>Earlier approaches relied on handcrafted spectral features like MFCC and CQCC.</a:t>
            </a:r>
            <a:br>
              <a:rPr lang="en-US" sz="1800" dirty="0"/>
            </a:br>
            <a:r>
              <a:rPr lang="en-US" sz="1800" dirty="0"/>
              <a:t>These methods often fail to generalize across different synthesis techniques.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Deep Learning Approaches:</a:t>
            </a:r>
            <a:br>
              <a:rPr lang="en-US" sz="1800" dirty="0"/>
            </a:br>
            <a:r>
              <a:rPr lang="en-US" sz="1800" dirty="0"/>
              <a:t>CNNs and Transformers have been used to learn deep audio representations.</a:t>
            </a:r>
            <a:br>
              <a:rPr lang="en-US" sz="1800" dirty="0"/>
            </a:br>
            <a:r>
              <a:rPr lang="en-US" sz="1800" dirty="0"/>
              <a:t>While effective, these models are computationally expensive.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Waveform-Based Models:</a:t>
            </a:r>
            <a:br>
              <a:rPr lang="en-US" sz="1800" dirty="0"/>
            </a:br>
            <a:r>
              <a:rPr lang="en-US" sz="1800" dirty="0"/>
              <a:t>Models like RawNet2 operate directly on raw audio waveforms.</a:t>
            </a:r>
            <a:br>
              <a:rPr lang="en-US" sz="1800" dirty="0"/>
            </a:br>
            <a:r>
              <a:rPr lang="en-US" sz="1800" dirty="0"/>
              <a:t>They achieve good accuracy but suffer from high complexity and latency.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0D8226-59A8-0032-6D32-8048303C8A8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lang="en-IN" spc="-2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048B7F-3E9D-2688-BE49-6A4753727F68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EC1A4-2EA5-DBB6-159F-764B42907A6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lang="en-IN" spc="-25" smtClean="0"/>
              <a:t>21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991041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B41C5-8ADC-8C06-95CD-A42BA5309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282" y="838200"/>
            <a:ext cx="10101072" cy="677108"/>
          </a:xfrm>
        </p:spPr>
        <p:txBody>
          <a:bodyPr/>
          <a:lstStyle/>
          <a:p>
            <a:r>
              <a:rPr lang="en-IN" dirty="0"/>
              <a:t>TIMIT-TTS DATASET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5FCF4-1CB3-9E97-F106-18E32D485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4" y="1730872"/>
            <a:ext cx="10402951" cy="4578176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Synthetic Speech Generation:</a:t>
            </a:r>
            <a:br>
              <a:rPr lang="en-US" sz="1800" dirty="0"/>
            </a:br>
            <a:r>
              <a:rPr lang="en-US" sz="1800" dirty="0"/>
              <a:t>TIMIT-TTS is created by synthesizing speech from the original TIMIT text using multiple TTS systems.</a:t>
            </a:r>
            <a:br>
              <a:rPr lang="en-US" sz="1800" dirty="0"/>
            </a:br>
            <a:r>
              <a:rPr lang="en-US" sz="1800" dirty="0"/>
              <a:t>This enables realistic simulation of AI-generated fake voices.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Diverse TTS Architectures:</a:t>
            </a:r>
            <a:br>
              <a:rPr lang="en-US" sz="1800" dirty="0"/>
            </a:br>
            <a:r>
              <a:rPr lang="en-US" sz="1800" dirty="0"/>
              <a:t>The dataset includes audio generated from twelve different TTS models.</a:t>
            </a:r>
            <a:br>
              <a:rPr lang="en-US" sz="1800" dirty="0"/>
            </a:br>
            <a:r>
              <a:rPr lang="en-US" sz="1800" dirty="0"/>
              <a:t>This diversity improves robustness against model-specific artifacts.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Large Sample Size:</a:t>
            </a:r>
            <a:br>
              <a:rPr lang="en-US" sz="1800" dirty="0"/>
            </a:br>
            <a:r>
              <a:rPr lang="en-US" sz="1800" dirty="0"/>
              <a:t>Nearly 80,000 audio samples are included for training and evaluation.</a:t>
            </a:r>
            <a:br>
              <a:rPr lang="en-US" sz="1800" dirty="0"/>
            </a:br>
            <a:r>
              <a:rPr lang="en-US" sz="1800" dirty="0"/>
              <a:t>This helps prevent overfitting and improves generalization.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611CBA-4A55-9173-8154-68BADAE067B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lang="en-IN" spc="-2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CB797-EE9C-8C68-D9E2-2DB9A710273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C318E-9C47-823E-E21A-791210D719B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lang="en-IN" spc="-25" smtClean="0"/>
              <a:t>22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340208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D8EF6-EED8-FD49-B0C5-B7CB150AC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838200"/>
            <a:ext cx="10101072" cy="677108"/>
          </a:xfrm>
        </p:spPr>
        <p:txBody>
          <a:bodyPr/>
          <a:lstStyle/>
          <a:p>
            <a:r>
              <a:rPr lang="en-IN" dirty="0"/>
              <a:t>FEATURE NORMALIZATION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AE51C-EE13-D4B3-815D-6B3ECCF6E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4" y="1730872"/>
            <a:ext cx="9826625" cy="4578176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Z-Score Normalization:</a:t>
            </a:r>
            <a:br>
              <a:rPr lang="en-US" sz="2000" dirty="0"/>
            </a:br>
            <a:r>
              <a:rPr lang="en-US" sz="2000" dirty="0"/>
              <a:t>Extracted embeddings are normalized using mean and variance statistics.</a:t>
            </a:r>
            <a:br>
              <a:rPr lang="en-US" sz="2000" dirty="0"/>
            </a:br>
            <a:r>
              <a:rPr lang="en-US" sz="2000" dirty="0"/>
              <a:t>This stabilizes classifier training and prevents scale bias.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Improved Convergence:</a:t>
            </a:r>
            <a:br>
              <a:rPr lang="en-US" sz="2000" dirty="0"/>
            </a:br>
            <a:r>
              <a:rPr lang="en-US" sz="2000" dirty="0"/>
              <a:t>Normalization ensures faster and more stable learning.</a:t>
            </a:r>
            <a:br>
              <a:rPr lang="en-US" sz="2000" dirty="0"/>
            </a:br>
            <a:r>
              <a:rPr lang="en-US" sz="2000" dirty="0"/>
              <a:t>It avoids dominance of high-magnitude features.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Better Class Separation:</a:t>
            </a:r>
            <a:br>
              <a:rPr lang="en-US" sz="2000" dirty="0"/>
            </a:br>
            <a:r>
              <a:rPr lang="en-US" sz="2000" dirty="0"/>
              <a:t>Normalized features improve separation between real and fake classes.</a:t>
            </a:r>
            <a:br>
              <a:rPr lang="en-US" sz="2000" dirty="0"/>
            </a:br>
            <a:r>
              <a:rPr lang="en-US" sz="2000" dirty="0"/>
              <a:t>This leads to higher classification accuracy.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8F8072-6BB0-1041-D857-A6B1938F4A7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lang="en-IN" spc="-2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0B771-AC0E-67E5-DA6F-6F5209D0E185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FDE91-67DD-4EF6-14F6-E0986F11665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lang="en-IN" spc="-25" smtClean="0"/>
              <a:t>23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114952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6FF0E-DA2D-6C7E-B60B-FC2E7B726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838200"/>
            <a:ext cx="10101072" cy="677108"/>
          </a:xfrm>
        </p:spPr>
        <p:txBody>
          <a:bodyPr/>
          <a:lstStyle/>
          <a:p>
            <a:r>
              <a:rPr lang="en-IN" dirty="0"/>
              <a:t>EVALUATION METRICS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62AEF-041C-EB0F-9108-694D21152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4" y="1730872"/>
            <a:ext cx="10512425" cy="457817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Accuracy:</a:t>
            </a:r>
            <a:br>
              <a:rPr lang="en-US" sz="1800" dirty="0"/>
            </a:br>
            <a:r>
              <a:rPr lang="en-US" sz="1800" dirty="0"/>
              <a:t>Measures the overall correctness of real and fake classification.</a:t>
            </a:r>
            <a:br>
              <a:rPr lang="en-US" sz="1800" dirty="0"/>
            </a:br>
            <a:r>
              <a:rPr lang="en-US" sz="1800" dirty="0"/>
              <a:t>Useful for general performance assessment.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F1-Score:</a:t>
            </a:r>
            <a:br>
              <a:rPr lang="en-US" sz="1800" dirty="0"/>
            </a:br>
            <a:r>
              <a:rPr lang="en-US" sz="1800" dirty="0"/>
              <a:t>Balances precision and recall into a single metric.</a:t>
            </a:r>
            <a:br>
              <a:rPr lang="en-US" sz="1800" dirty="0"/>
            </a:br>
            <a:r>
              <a:rPr lang="en-US" sz="1800" dirty="0"/>
              <a:t>Important for handling class imbalance.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ROC-AUC:</a:t>
            </a:r>
            <a:br>
              <a:rPr lang="en-US" sz="1800" dirty="0"/>
            </a:br>
            <a:r>
              <a:rPr lang="en-US" sz="1800" dirty="0"/>
              <a:t>Evaluates the trade-off between true positive and false positive rates.</a:t>
            </a:r>
            <a:br>
              <a:rPr lang="en-US" sz="1800" dirty="0"/>
            </a:br>
            <a:r>
              <a:rPr lang="en-US" sz="1800" dirty="0"/>
              <a:t>Higher AUC indicates stronger discrimination capability.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Precision and Recall:</a:t>
            </a:r>
            <a:br>
              <a:rPr lang="en-US" sz="1800" dirty="0"/>
            </a:br>
            <a:r>
              <a:rPr lang="en-US" sz="1800" dirty="0"/>
              <a:t>Precision measures prediction reliability, while recall measures detection coverage.</a:t>
            </a:r>
            <a:br>
              <a:rPr lang="en-US" sz="1800" dirty="0"/>
            </a:br>
            <a:r>
              <a:rPr lang="en-US" sz="1800" dirty="0"/>
              <a:t>Both are critical in security-oriented applications.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CB75DE-D2CA-64CF-FB28-28DB52B97FE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lang="en-IN" spc="-2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C8F00-F102-A0FE-6468-D87C48119AAA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C759F-B21D-DB26-B278-20923530F3C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lang="en-IN" spc="-25" smtClean="0"/>
              <a:t>24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0169475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DB12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45463" y="1676400"/>
            <a:ext cx="10360025" cy="366549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[1] T. Kinnunen, M. </a:t>
            </a:r>
            <a:r>
              <a:rPr lang="en-IN" sz="1600" dirty="0" err="1"/>
              <a:t>Sahidullah</a:t>
            </a:r>
            <a:r>
              <a:rPr lang="en-IN" sz="1600" dirty="0"/>
              <a:t>, H. Li, Z.-H. Tan, and J. Yamagishi, “A survey on voice conversion,” IEEE/ACM Transactions on Audio, Speech, and Language Processing, vol. 28, pp. 2023– 2040, 2020.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[2] L. </a:t>
            </a:r>
            <a:r>
              <a:rPr lang="en-IN" sz="1600" dirty="0" err="1"/>
              <a:t>Verdoliva</a:t>
            </a:r>
            <a:r>
              <a:rPr lang="en-IN" sz="1600" dirty="0"/>
              <a:t>, “Media forensics and deepfakes: An overview,” IEEE Journal of Selected Topics in Signal Processing, vol. 14, no. 5, pp. 910–932, 2020.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 [3] B. </a:t>
            </a:r>
            <a:r>
              <a:rPr lang="en-IN" sz="1600" dirty="0" err="1"/>
              <a:t>Desplanques</a:t>
            </a:r>
            <a:r>
              <a:rPr lang="en-IN" sz="1600" dirty="0"/>
              <a:t>, J. </a:t>
            </a:r>
            <a:r>
              <a:rPr lang="en-IN" sz="1600" dirty="0" err="1"/>
              <a:t>Thienpondt</a:t>
            </a:r>
            <a:r>
              <a:rPr lang="en-IN" sz="1600" dirty="0"/>
              <a:t>, and K. Demuynck, “</a:t>
            </a:r>
            <a:r>
              <a:rPr lang="en-IN" sz="1600" dirty="0" err="1"/>
              <a:t>Ecapa-tdnn</a:t>
            </a:r>
            <a:r>
              <a:rPr lang="en-IN" sz="1600" dirty="0"/>
              <a:t>: Emphasized channel attention, propagation and aggregation in </a:t>
            </a:r>
            <a:r>
              <a:rPr lang="en-IN" sz="1600" dirty="0" err="1"/>
              <a:t>tdnn</a:t>
            </a:r>
            <a:r>
              <a:rPr lang="en-IN" sz="1600" dirty="0"/>
              <a:t>-based speaker verification,” in Proc. </a:t>
            </a:r>
            <a:r>
              <a:rPr lang="en-IN" sz="1600" dirty="0" err="1"/>
              <a:t>Interspeech</a:t>
            </a:r>
            <a:r>
              <a:rPr lang="en-IN" sz="1600" dirty="0"/>
              <a:t>, 2020, pp. 3830–3834.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 [4] R. Kumar, S. Patel, and A. Joshi, “Timit-ai-</a:t>
            </a:r>
            <a:r>
              <a:rPr lang="en-IN" sz="1600" dirty="0" err="1"/>
              <a:t>tts</a:t>
            </a:r>
            <a:r>
              <a:rPr lang="en-IN" sz="1600" dirty="0"/>
              <a:t>: A benchmark dataset for robust detection of synthetic speech,” in Proc. Int. Conf. Audio Forensics AI Security (AFAS), 2025.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[5] J. Jung, H.-S. Heo, J.-H. Kim, H.-J. Shim, and H.-J. Yu, “Rawnet2: Improved end-to-end deep neural network using raw waveform for text-independent speaker verification,” </a:t>
            </a:r>
            <a:r>
              <a:rPr lang="en-IN" sz="1600" dirty="0" err="1"/>
              <a:t>arXiv</a:t>
            </a:r>
            <a:r>
              <a:rPr lang="en-IN" sz="1600" dirty="0"/>
              <a:t> preprint arXiv:2001.05512, 2020.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8158B-403F-B457-E4EA-02750B9DB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F596C82-37D7-35B8-D98F-B7B73D7E0F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5DA61EC-CAE7-A4FF-8B0B-532985DE2C5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IN"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BF17FB1-43CC-85B7-13C1-4464904C801D}"/>
              </a:ext>
            </a:extLst>
          </p:cNvPr>
          <p:cNvSpPr txBox="1"/>
          <p:nvPr/>
        </p:nvSpPr>
        <p:spPr>
          <a:xfrm>
            <a:off x="4429378" y="6451049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No.2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B5B30E6-3923-5DB6-F16F-F6B79F054FF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DB12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B4347B5-2AEF-6B81-46DF-A98FB8C9DE13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A2DDA49-0503-F96E-AB49-184569A4388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1373999-F6DC-CB02-2A59-2022C5D5AACA}"/>
              </a:ext>
            </a:extLst>
          </p:cNvPr>
          <p:cNvSpPr txBox="1"/>
          <p:nvPr/>
        </p:nvSpPr>
        <p:spPr>
          <a:xfrm>
            <a:off x="1045463" y="1676400"/>
            <a:ext cx="10360025" cy="40348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[6] F. Kreuk, J. Keshet, Y. </a:t>
            </a:r>
            <a:r>
              <a:rPr lang="en-IN" sz="1600" dirty="0" err="1"/>
              <a:t>Taigman</a:t>
            </a:r>
            <a:r>
              <a:rPr lang="en-IN" sz="1600" dirty="0"/>
              <a:t>, and L. Wolf, “Synthesizing speech from mel spectrograms using </a:t>
            </a:r>
            <a:r>
              <a:rPr lang="en-IN" sz="1600" dirty="0" err="1"/>
              <a:t>gans</a:t>
            </a:r>
            <a:r>
              <a:rPr lang="en-IN" sz="1600" dirty="0"/>
              <a:t>,” IEEE/ACM Transactions on Audio, Speech, and Language Processing, vol. 30, pp. 2723–2736, 2022.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[7] G. </a:t>
            </a:r>
            <a:r>
              <a:rPr lang="en-IN" sz="1600" dirty="0" err="1"/>
              <a:t>Tahaoglu</a:t>
            </a:r>
            <a:r>
              <a:rPr lang="en-IN" sz="1600" dirty="0"/>
              <a:t> et al., “Deepfake audio detection with spectral features and noise robustness,” Pattern Recognition Letters, vol. 204, p. 109974, 2025.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 [8] H. Tak, J. Jung, J. Patino, M. Kamble, M. Todisco, and N. Evans, “End-to-end </a:t>
            </a:r>
            <a:r>
              <a:rPr lang="en-IN" sz="1600" dirty="0" err="1"/>
              <a:t>spectro</a:t>
            </a:r>
            <a:r>
              <a:rPr lang="en-IN" sz="1600" dirty="0"/>
              <a:t>-temporal graph attention networks for speaker verification anti-spoofing and speech deepfake detection,” IEEE Access, vol. 9, pp. 118 552–118 564, 2021.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[9] M. </a:t>
            </a:r>
            <a:r>
              <a:rPr lang="en-IN" sz="1600" dirty="0" err="1"/>
              <a:t>Alzantot</a:t>
            </a:r>
            <a:r>
              <a:rPr lang="en-IN" sz="1600" dirty="0"/>
              <a:t>, Z. Wang, and M. B. Srivastava, “Deep residual neural networks for audio spoofing detection,” in Proc. </a:t>
            </a:r>
            <a:r>
              <a:rPr lang="en-IN" sz="1600" dirty="0" err="1"/>
              <a:t>ASVspoof</a:t>
            </a:r>
            <a:r>
              <a:rPr lang="en-IN" sz="1600" dirty="0"/>
              <a:t> Challenge, 2019.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[10] X. Chen, Y. Zhang, G. Zhu, and Z. Duan, “Ur channel-robust synthetic speech detection system for </a:t>
            </a:r>
            <a:r>
              <a:rPr lang="en-IN" sz="1600" dirty="0" err="1"/>
              <a:t>asvspoof</a:t>
            </a:r>
            <a:r>
              <a:rPr lang="en-IN" sz="1600" dirty="0"/>
              <a:t> 2021,” in Proc. </a:t>
            </a:r>
            <a:r>
              <a:rPr lang="en-IN" sz="1600" dirty="0" err="1"/>
              <a:t>ASVspoof</a:t>
            </a:r>
            <a:r>
              <a:rPr lang="en-IN" sz="1600" dirty="0"/>
              <a:t> Challenge, 2021.22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69612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C1F7F-5B9F-0185-9E08-37343E561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123C2E0-AC08-6F6E-727B-0DB303A9C2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F3653EA-13C8-4A51-6447-3382B1F3E09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IN"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6463804-EE9D-9B5D-3D83-9FC7C6B0D69A}"/>
              </a:ext>
            </a:extLst>
          </p:cNvPr>
          <p:cNvSpPr txBox="1"/>
          <p:nvPr/>
        </p:nvSpPr>
        <p:spPr>
          <a:xfrm>
            <a:off x="4429378" y="6451049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No.2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C35F68F-1D99-7586-D78E-D75B245CCFB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486160" y="6451049"/>
            <a:ext cx="105678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DB12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A2790F0-0C3A-3677-091F-1983CA6BD23D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01023F4-A3B4-FCA8-844E-DC220353B80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046612B-AD92-2D56-AFD2-200D7739FF85}"/>
              </a:ext>
            </a:extLst>
          </p:cNvPr>
          <p:cNvSpPr txBox="1"/>
          <p:nvPr/>
        </p:nvSpPr>
        <p:spPr>
          <a:xfrm>
            <a:off x="533400" y="1066800"/>
            <a:ext cx="11353800" cy="55077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[11] W. Yang et al., “Avoid-</a:t>
            </a:r>
            <a:r>
              <a:rPr lang="en-IN" dirty="0" err="1"/>
              <a:t>df</a:t>
            </a:r>
            <a:r>
              <a:rPr lang="en-IN" dirty="0"/>
              <a:t>: Audio-visual joint learning for detecting deepfake,” IEEE Transactions on Information Forensics and Security, vol. 18, pp. 2015–2029, 2023.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[12] K. </a:t>
            </a:r>
            <a:r>
              <a:rPr lang="en-IN" dirty="0" err="1"/>
              <a:t>Lakshminadh</a:t>
            </a:r>
            <a:r>
              <a:rPr lang="en-IN" dirty="0"/>
              <a:t>, D. C. V. </a:t>
            </a:r>
            <a:r>
              <a:rPr lang="en-IN" dirty="0" err="1"/>
              <a:t>Guptha</a:t>
            </a:r>
            <a:r>
              <a:rPr lang="en-IN" dirty="0"/>
              <a:t>, J. Sai, K. Rajesh, S. Moturi, Y. Neelima, and D. V. Reddy, “Deepfake audio detection using machine learning models,” in Proc. IEEE Int. Conf. </a:t>
            </a:r>
            <a:r>
              <a:rPr lang="en-IN" dirty="0" err="1"/>
              <a:t>Interdiscip</a:t>
            </a:r>
            <a:r>
              <a:rPr lang="en-IN" dirty="0"/>
              <a:t>. Approaches Technol. Manage. Social </a:t>
            </a:r>
            <a:r>
              <a:rPr lang="en-IN" dirty="0" err="1"/>
              <a:t>Innov</a:t>
            </a:r>
            <a:r>
              <a:rPr lang="en-IN" dirty="0"/>
              <a:t>. (IATMSI), 2025.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[13] S. N. T. Rao, T. C. Dulla, V. K. Kolla, G. S. Kurakula, M. Suneetha, S. Moturi, and D. V. Reddy, “Fake audio detection using deep learning approaches,” in Proc. IEEE Int. Conf. </a:t>
            </a:r>
            <a:r>
              <a:rPr lang="en-IN" dirty="0" err="1"/>
              <a:t>Interdiscip</a:t>
            </a:r>
            <a:r>
              <a:rPr lang="en-IN" dirty="0"/>
              <a:t>. Approaches Technol. Manage. Social </a:t>
            </a:r>
            <a:r>
              <a:rPr lang="en-IN" dirty="0" err="1"/>
              <a:t>Innov</a:t>
            </a:r>
            <a:r>
              <a:rPr lang="en-IN" dirty="0"/>
              <a:t>. (IATMSI), 2025.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[14] B. Greeshma, M. Sireesha, and S. N. T. Rao, “A survey on fake audio detection using deep learning techniques,” in Lecture Notes in Networks and Systems. Springer, 2022.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[15] N. M. Muller, P. Kawa, W. H. Choong, E. Casanova, ¨ E. </a:t>
            </a:r>
            <a:r>
              <a:rPr lang="en-IN" dirty="0" err="1"/>
              <a:t>Golge</a:t>
            </a:r>
            <a:r>
              <a:rPr lang="en-IN" dirty="0"/>
              <a:t>, T. M ¨ </a:t>
            </a:r>
            <a:r>
              <a:rPr lang="en-IN" dirty="0" err="1"/>
              <a:t>uller</a:t>
            </a:r>
            <a:r>
              <a:rPr lang="en-IN" dirty="0"/>
              <a:t>, P. </a:t>
            </a:r>
            <a:r>
              <a:rPr lang="en-IN" dirty="0" err="1"/>
              <a:t>Syga</a:t>
            </a:r>
            <a:r>
              <a:rPr lang="en-IN" dirty="0"/>
              <a:t>, P. Sperl, and K. B ¨ </a:t>
            </a:r>
            <a:r>
              <a:rPr lang="en-IN" dirty="0" err="1"/>
              <a:t>ottinger</a:t>
            </a:r>
            <a:r>
              <a:rPr lang="en-IN" dirty="0"/>
              <a:t>, ¨ “</a:t>
            </a:r>
            <a:r>
              <a:rPr lang="en-IN" dirty="0" err="1"/>
              <a:t>Mlaad</a:t>
            </a:r>
            <a:r>
              <a:rPr lang="en-IN" dirty="0"/>
              <a:t>: The multi-language audio anti-spoofing dataset,” in </a:t>
            </a:r>
            <a:r>
              <a:rPr lang="en-IN" dirty="0" err="1"/>
              <a:t>arXiv</a:t>
            </a:r>
            <a:r>
              <a:rPr lang="en-IN" dirty="0"/>
              <a:t> preprint arXiv:2401.09512, 2024.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594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6874" y="60960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1635125">
              <a:lnSpc>
                <a:spcPct val="100000"/>
              </a:lnSpc>
              <a:spcBef>
                <a:spcPts val="130"/>
              </a:spcBef>
            </a:pPr>
            <a:r>
              <a:rPr dirty="0"/>
              <a:t>QUESTIONS</a:t>
            </a:r>
            <a:r>
              <a:rPr spc="-150" dirty="0"/>
              <a:t> </a:t>
            </a:r>
            <a:r>
              <a:rPr spc="-20" dirty="0"/>
              <a:t>and</a:t>
            </a:r>
            <a:r>
              <a:rPr spc="-265" dirty="0"/>
              <a:t> </a:t>
            </a:r>
            <a:r>
              <a:rPr spc="-10" dirty="0"/>
              <a:t>ANSWERS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IN"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No.2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DB12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905000" y="2057400"/>
            <a:ext cx="9199626" cy="331622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Q1: What are the datasets used?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I used two datasets — </a:t>
            </a:r>
            <a:r>
              <a:rPr lang="en-IN" b="1" dirty="0"/>
              <a:t>TIMIT</a:t>
            </a:r>
            <a:r>
              <a:rPr lang="en-IN" dirty="0"/>
              <a:t> and </a:t>
            </a:r>
            <a:r>
              <a:rPr lang="en-IN" b="1" dirty="0"/>
              <a:t>TIMIT-TTS</a:t>
            </a:r>
            <a:r>
              <a:rPr lang="en-IN" dirty="0"/>
              <a:t> datasets.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Q2: Do you use both datasets together?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No, I used the datasets separately for training and evaluation.</a:t>
            </a: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Q3: What is the main objective of this project?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</a:t>
            </a:r>
            <a:r>
              <a:rPr lang="en-US" dirty="0"/>
              <a:t>The main objective is to develop an </a:t>
            </a:r>
            <a:r>
              <a:rPr lang="en-US" b="1" dirty="0"/>
              <a:t>audio-based deepfake detection system</a:t>
            </a:r>
            <a:r>
              <a:rPr lang="en-US" dirty="0"/>
              <a:t> that accurately differentiates real and synthetic voices using the </a:t>
            </a:r>
            <a:r>
              <a:rPr lang="en-US" b="1" dirty="0"/>
              <a:t>ECAPA-TDNN model</a:t>
            </a:r>
            <a:r>
              <a:rPr lang="en-US" dirty="0"/>
              <a:t> and acoustic feature representations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336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ACKNOWLEGEMENTS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IN"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8284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No.2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DB12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4" y="1730872"/>
            <a:ext cx="10512425" cy="408573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Grateful to our Chairman, Sri M. V.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Koteswara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Rao, B.Sc.,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his continuous support and encouragement throughout the course.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Thankful to our Principal, Dr. S.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Venkateswarlu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Ph.D.,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his valuable guidance and motivation.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Sincere thanks to Dr. S. N. Tirumala Rao,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Ph.D., HOD of CSE,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our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T.G.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Ramnadh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Babu,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their guidance and constant encouragement.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Appreciation to Syed Rizwana,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(Ph.D.), Assistant Professor &amp; Project Coordinator,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her support and inspiration.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Heartfelt gratitude to our parents, friends, and the CSE department staff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their cooperation, motivation, and continuous encouragement.</a:t>
            </a:r>
          </a:p>
          <a:p>
            <a:endParaRPr lang="en-IN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F0FF59-E604-04AE-94B5-5AB53F009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>
            <a:extLst>
              <a:ext uri="{FF2B5EF4-FFF2-40B4-BE49-F238E27FC236}">
                <a16:creationId xmlns:a16="http://schemas.microsoft.com/office/drawing/2014/main" id="{1162193E-6997-7C14-CD63-E43AC81AC3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381000"/>
            <a:ext cx="3648074" cy="505326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821C2432-84FD-8A0F-4E34-AD4BCFA9794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6497366-0394-0D10-C7DE-3A78512CD94D}"/>
              </a:ext>
            </a:extLst>
          </p:cNvPr>
          <p:cNvSpPr txBox="1"/>
          <p:nvPr/>
        </p:nvSpPr>
        <p:spPr>
          <a:xfrm>
            <a:off x="4267200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6F2A21F1-7F64-B53C-AE77-5A404F3E491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480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 DB12</a:t>
            </a:r>
            <a:endParaRPr spc="-25"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3232B70-6E61-42F4-DA02-2B13416010D0}"/>
              </a:ext>
            </a:extLst>
          </p:cNvPr>
          <p:cNvSpPr txBox="1"/>
          <p:nvPr/>
        </p:nvSpPr>
        <p:spPr>
          <a:xfrm>
            <a:off x="7005320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0D742A9-825F-ED0D-E3CE-2F451F66B4D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271C07-ADB4-5522-86E0-D56AB5889068}"/>
              </a:ext>
            </a:extLst>
          </p:cNvPr>
          <p:cNvSpPr txBox="1"/>
          <p:nvPr/>
        </p:nvSpPr>
        <p:spPr>
          <a:xfrm>
            <a:off x="2971800" y="1981200"/>
            <a:ext cx="7391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latin typeface="Berlin Sans FB Demi" panose="020E0802020502020306" pitchFamily="34" charset="0"/>
              </a:rPr>
              <a:t>THANK YOU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7E7EF9-D87F-BA8D-EF13-1B4D55950AF4}"/>
              </a:ext>
            </a:extLst>
          </p:cNvPr>
          <p:cNvSpPr txBox="1"/>
          <p:nvPr/>
        </p:nvSpPr>
        <p:spPr>
          <a:xfrm>
            <a:off x="7315200" y="4038600"/>
            <a:ext cx="434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Contact: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hemanthkumarboddana002@gmail.com</a:t>
            </a:r>
          </a:p>
        </p:txBody>
      </p:sp>
    </p:spTree>
    <p:extLst>
      <p:ext uri="{BB962C8B-B14F-4D97-AF65-F5344CB8AC3E}">
        <p14:creationId xmlns:p14="http://schemas.microsoft.com/office/powerpoint/2010/main" val="3561154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509</TotalTime>
  <Words>3699</Words>
  <Application>Microsoft Office PowerPoint</Application>
  <PresentationFormat>Widescreen</PresentationFormat>
  <Paragraphs>333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Arial MT</vt:lpstr>
      <vt:lpstr>Berlin Sans FB Demi</vt:lpstr>
      <vt:lpstr>Calibri</vt:lpstr>
      <vt:lpstr>Times New Roman</vt:lpstr>
      <vt:lpstr>Office Theme</vt:lpstr>
      <vt:lpstr>Department of Computer Science and Engineering</vt:lpstr>
      <vt:lpstr>ABSTRACT </vt:lpstr>
      <vt:lpstr>INTRODUCTION</vt:lpstr>
      <vt:lpstr>LITERATURE SURVEY</vt:lpstr>
      <vt:lpstr>                              GAPS</vt:lpstr>
      <vt:lpstr>LITERATURE SURVEY</vt:lpstr>
      <vt:lpstr>PROBLEM STATEMENT</vt:lpstr>
      <vt:lpstr>OBJECTIVES</vt:lpstr>
      <vt:lpstr>BLOCK DIAGRAM OR FLOW DIAGRAM</vt:lpstr>
      <vt:lpstr>METHODOLOGY</vt:lpstr>
      <vt:lpstr>IMPLEMENTATION</vt:lpstr>
      <vt:lpstr>RESULTS &amp; ANALYSIS</vt:lpstr>
      <vt:lpstr>CONCLUSION and FUTURE SCOPE</vt:lpstr>
      <vt:lpstr>DATASET DETAILS – TIMIT DATASET </vt:lpstr>
      <vt:lpstr>AUDIO PREPROCESSING</vt:lpstr>
      <vt:lpstr>FEATURE EXTRACTION USING ECAPA-TDNN</vt:lpstr>
      <vt:lpstr>MODEL ARCHITECTURE</vt:lpstr>
      <vt:lpstr>APPLICATIONS</vt:lpstr>
      <vt:lpstr>LOGISTIC REGRESSION CLASSIFIER</vt:lpstr>
      <vt:lpstr>REAL-TIME DETECTION CAPABILITY</vt:lpstr>
      <vt:lpstr>RELATED WORK</vt:lpstr>
      <vt:lpstr>TIMIT-TTS DATASET DETAILS</vt:lpstr>
      <vt:lpstr>FEATURE NORMALIZATION</vt:lpstr>
      <vt:lpstr>EVALUATION METRICS</vt:lpstr>
      <vt:lpstr>REFERENCES</vt:lpstr>
      <vt:lpstr>REFERENCES</vt:lpstr>
      <vt:lpstr>REFERENCES</vt:lpstr>
      <vt:lpstr>QUESTIONS and ANSWERS</vt:lpstr>
      <vt:lpstr>ACKNOWLEGEMENTS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Chaitanya Y</dc:creator>
  <cp:lastModifiedBy>CHINNU TINNU</cp:lastModifiedBy>
  <cp:revision>11</cp:revision>
  <dcterms:created xsi:type="dcterms:W3CDTF">2025-11-08T10:38:02Z</dcterms:created>
  <dcterms:modified xsi:type="dcterms:W3CDTF">2026-02-07T07:03:32Z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2024-12-19T00:00:00Z</vt:filetime>
  </property>
  <property fmtid="{D5CDD505-2E9C-101B-9397-08002B2CF9AE}" pid="3" name="LastSaved">
    <vt:filetime>2025-11-08T00:00:00Z</vt:filetime>
  </property>
</Properties>
</file>