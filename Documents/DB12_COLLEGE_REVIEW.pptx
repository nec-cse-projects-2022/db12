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274" r:id="rId3"/>
    <p:sldId id="260" r:id="rId4"/>
    <p:sldId id="261" r:id="rId5"/>
    <p:sldId id="278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6" r:id="rId17"/>
    <p:sldId id="272" r:id="rId18"/>
    <p:sldId id="273" r:id="rId19"/>
    <p:sldId id="277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6C80D-53E3-491C-8DEF-88F282CA3651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AECFA-E782-4340-988A-48FC5D9BE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038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AECFA-E782-4340-988A-48FC5D9BE8F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78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12476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806715" TargetMode="External"/><Relationship Id="rId5" Type="http://schemas.openxmlformats.org/officeDocument/2006/relationships/hyperlink" Target="https://ieeexplore.ieee.org/document/10234403" TargetMode="External"/><Relationship Id="rId4" Type="http://schemas.openxmlformats.org/officeDocument/2006/relationships/hyperlink" Target="https://ieeexplore.ieee.org/document/10517609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759677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5059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lang="en-IN" sz="155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555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b="1" dirty="0">
                <a:latin typeface="Times New Roman"/>
                <a:cs typeface="Times New Roman"/>
              </a:rPr>
              <a:t>T.G. RAMNADH BABU</a:t>
            </a:r>
            <a:r>
              <a:rPr lang="en-IN" sz="1575" b="1" spc="-15" baseline="-15873" dirty="0">
                <a:latin typeface="Times New Roman"/>
                <a:cs typeface="Times New Roman"/>
              </a:rPr>
              <a:t>  M 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r>
              <a:rPr lang="en-IN" sz="1550" b="1" spc="-10" dirty="0">
                <a:latin typeface="Times New Roman"/>
                <a:cs typeface="Times New Roman"/>
              </a:rPr>
              <a:t> 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Designation,</a:t>
            </a:r>
            <a:endParaRPr lang="en-IN" sz="1550" spc="-10" dirty="0">
              <a:solidFill>
                <a:srgbClr val="888888"/>
              </a:solidFill>
              <a:latin typeface="Times New Roman"/>
              <a:cs typeface="Times New Roman"/>
            </a:endParaRPr>
          </a:p>
          <a:p>
            <a:pPr algn="ctr">
              <a:spcBef>
                <a:spcPts val="470"/>
              </a:spcBef>
            </a:pPr>
            <a:r>
              <a:rPr lang="en-US" sz="1400" dirty="0"/>
              <a:t>Assistant Professor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7582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E6DE5-587C-B117-9409-336AACCB4F21}"/>
              </a:ext>
            </a:extLst>
          </p:cNvPr>
          <p:cNvSpPr txBox="1"/>
          <p:nvPr/>
        </p:nvSpPr>
        <p:spPr>
          <a:xfrm>
            <a:off x="917575" y="1186864"/>
            <a:ext cx="10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eaLnBrk="1" fontAlgn="base" hangingPunct="1"/>
            <a:r>
              <a:rPr lang="en-US" sz="1800" b="1" dirty="0">
                <a:solidFill>
                  <a:srgbClr val="FF0000"/>
                </a:solidFill>
              </a:rPr>
              <a:t>Audio-Based Deepfake Detection Leveraging ECAPA-TDNN and TIMIT-TTS Corpus</a:t>
            </a:r>
            <a:endParaRPr lang="en-IN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8C1BB-BAA4-D2C3-0045-7541F40C93B2}"/>
              </a:ext>
            </a:extLst>
          </p:cNvPr>
          <p:cNvSpPr txBox="1"/>
          <p:nvPr/>
        </p:nvSpPr>
        <p:spPr>
          <a:xfrm>
            <a:off x="4429378" y="2515988"/>
            <a:ext cx="4486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B. HEMANTH KUMAR 		(23475A0524)</a:t>
            </a:r>
          </a:p>
          <a:p>
            <a:r>
              <a:rPr lang="en-IN" sz="1200" dirty="0"/>
              <a:t>G. NITHIN      		(23475A0520)</a:t>
            </a:r>
          </a:p>
          <a:p>
            <a:r>
              <a:rPr lang="en-IN" sz="1200" dirty="0"/>
              <a:t>K. ARJUN REDDY		(22471A05N1)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38B6D-73A2-DED2-3C0C-03F11D0D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6C6F0911-126B-6ED7-4451-1BC79C8922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1DEA04A4-DD81-E175-683F-5DB65E94C4A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30AF66E-84EC-FFB4-2BFE-922AF398A284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9B159F2-EE6B-8576-40DD-19628FCDE5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31EB93B-3C65-2A53-DCF1-955B77AA7FAE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AC81CF9-B497-C37F-5C28-EF904D53BE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5" name="object 2"/>
          <p:cNvSpPr txBox="1">
            <a:spLocks noGrp="1"/>
          </p:cNvSpPr>
          <p:nvPr>
            <p:ph type="title"/>
          </p:nvPr>
        </p:nvSpPr>
        <p:spPr>
          <a:xfrm>
            <a:off x="917575" y="685800"/>
            <a:ext cx="10099675" cy="1619673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  <a:br>
              <a:rPr lang="en-IN" spc="-10" dirty="0"/>
            </a:br>
            <a:endParaRPr spc="-1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E9E84-97F6-FEC9-6E80-BC0ADD56D5CD}"/>
              </a:ext>
            </a:extLst>
          </p:cNvPr>
          <p:cNvSpPr txBox="1"/>
          <p:nvPr/>
        </p:nvSpPr>
        <p:spPr>
          <a:xfrm>
            <a:off x="1373187" y="1463206"/>
            <a:ext cx="1005522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improvement of generative speech technologies has made synthetic voices seem more humanlike, resulting in threats such as impersonation, misinformation, and compromised voice identity. We present an </a:t>
            </a:r>
            <a:r>
              <a:rPr lang="en-US" dirty="0" err="1"/>
              <a:t>audioonly</a:t>
            </a:r>
            <a:r>
              <a:rPr lang="en-US" dirty="0"/>
              <a:t> deepfake detector that utilizes ECAPA-TDNN (</a:t>
            </a:r>
            <a:r>
              <a:rPr lang="en-US" b="1" dirty="0"/>
              <a:t>Emphasized Channel Attention, Propagation, and Aggregation Time Delay Neural Network)</a:t>
            </a:r>
            <a:r>
              <a:rPr lang="en-US" dirty="0"/>
              <a:t> speaker embeddings with a simple binary classifier to mitigate these threats. Our experiments utilize the TIMIT-TTS dataset that has nearly 80,000 samples from twelve </a:t>
            </a:r>
            <a:r>
              <a:rPr lang="en-US" dirty="0" err="1"/>
              <a:t>textto</a:t>
            </a:r>
            <a:r>
              <a:rPr lang="en-US" dirty="0"/>
              <a:t>-speech systems. The results of our study showed that this embedding-based method performed particularly well, achieving 90% accuracy, F1 of 0.92, AUC of 0.93, and is shown to outperform the RawNet2 baseline consistently across different testing conditions. These results suggest that modeling at the embedding level appears to be a useful compromise between accuracy and efficiency and lends itself readily to real-world applications requiring security.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03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82E80-CF24-5862-DE2F-BED2D755FF1E}"/>
              </a:ext>
            </a:extLst>
          </p:cNvPr>
          <p:cNvSpPr txBox="1"/>
          <p:nvPr/>
        </p:nvSpPr>
        <p:spPr>
          <a:xfrm>
            <a:off x="1447800" y="2057400"/>
            <a:ext cx="9656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Audio Deepfake Detection System:</a:t>
            </a:r>
            <a:r>
              <a:rPr lang="en-US" dirty="0"/>
              <a:t> A deep learning-based system designed to detect AI-generated or manipulated speech using advanced audio analysis techniques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Feature Extraction:</a:t>
            </a:r>
            <a:r>
              <a:rPr lang="en-US" dirty="0"/>
              <a:t> Utilizes the ECAPA-TDNN model to capture detailed temporal and spectral features that distinguish real from synthetic voices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Classification Performance:</a:t>
            </a:r>
            <a:r>
              <a:rPr lang="en-US" dirty="0"/>
              <a:t> Trained on the TIMIT–TTS dataset, achieving high accuracy and F1-score for robust deepfake audio detection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Applications:</a:t>
            </a:r>
            <a:r>
              <a:rPr lang="en-US" dirty="0"/>
              <a:t> Supports voice authentication, media integrity verification, and forensic analysis to prevent audio-based misinformation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0"/>
            <a:ext cx="556260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1297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18331"/>
              </p:ext>
            </p:extLst>
          </p:nvPr>
        </p:nvGraphicFramePr>
        <p:xfrm>
          <a:off x="684530" y="583901"/>
          <a:ext cx="10822939" cy="5852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4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9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81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/>
                        <a:t>TIMIT-TTS: A Text-to-Speech Dataset for Multimodal Synthetic Media Detection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   </a:t>
                      </a:r>
                      <a:r>
                        <a:rPr lang="en-IN" sz="1400" dirty="0"/>
                        <a:t>Davide Salvi 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i="1" dirty="0"/>
                        <a:t>IEEE</a:t>
                      </a:r>
                      <a:r>
                        <a:rPr lang="en-US" sz="1400" dirty="0"/>
                        <a:t>, 15 May 2023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hlinkClick r:id="rId3"/>
                        </a:rPr>
                        <a:t>https://ieeexplore.ieee.org/document/10124769</a:t>
                      </a:r>
                      <a:endParaRPr lang="en-US" sz="1400" dirty="0"/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Removal of head/tail silences before alignment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Multimodal deepfake detection significantly outperforms unimodal detection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Lacks implementation of Voice Conversion (VC) methods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Multi-Speaker Text-to-Speech Training with Speaker Anonymized Data</a:t>
                      </a:r>
                      <a:endParaRPr lang="en-IN" sz="1400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Wen-Chin       Huang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i="1" dirty="0"/>
                        <a:t> IEEE</a:t>
                      </a:r>
                      <a:r>
                        <a:rPr lang="en-US" sz="1400" dirty="0"/>
                        <a:t>, 17 October 2024  </a:t>
                      </a:r>
                      <a:r>
                        <a:rPr lang="en-US" sz="1400" dirty="0">
                          <a:hlinkClick r:id="rId4"/>
                        </a:rPr>
                        <a:t>https://ieeexplore.ieee.org/document/10517609</a:t>
                      </a:r>
                      <a:endParaRPr lang="en-US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Voice Activity Detection (VAD) for silence removal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GAN-based SA produced most natural speech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No single anonymization system excels in both privacy and synthesis quality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65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Zero-Shot Voice Cloning Text-to-Speech for Dysphonia Disorder Speakers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Kurniawati</a:t>
                      </a:r>
                      <a:r>
                        <a:rPr lang="en-IN" sz="1400" dirty="0"/>
                        <a:t> Azizah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i="1" dirty="0"/>
                        <a:t> IEEE</a:t>
                      </a:r>
                      <a:r>
                        <a:rPr lang="en-US" sz="1600" dirty="0"/>
                        <a:t>, 2 May 2024 </a:t>
                      </a:r>
                      <a:br>
                        <a:rPr lang="en-US" sz="1600" dirty="0"/>
                      </a:br>
                      <a:r>
                        <a:rPr lang="en-US" sz="1600" dirty="0">
                          <a:hlinkClick r:id="rId5"/>
                        </a:rPr>
                        <a:t>https://ieeexplore.ieee.org/document/10234403</a:t>
                      </a:r>
                      <a:endParaRPr lang="en-US" sz="16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sv-SE" sz="1400" dirty="0"/>
                        <a:t>d-vector speaker encoder (GE2E model)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Provided online demo with generated samples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Relied on </a:t>
                      </a:r>
                      <a:r>
                        <a:rPr lang="en-US" sz="1400" dirty="0" err="1"/>
                        <a:t>MosNet</a:t>
                      </a:r>
                      <a:r>
                        <a:rPr lang="en-US" sz="1400" dirty="0"/>
                        <a:t> auto-evaluation instead of human MOS raters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Indonesian Voice Cloning Text-to-Speech System with Vall-E-Based Model and Speech Enhancement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Dessy</a:t>
                      </a:r>
                      <a:r>
                        <a:rPr lang="en-IN" sz="1400" dirty="0"/>
                        <a:t> Puji Lestari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1400" i="1" dirty="0"/>
                        <a:t>IEEE</a:t>
                      </a:r>
                      <a:r>
                        <a:rPr lang="nl-NL" sz="1400" dirty="0"/>
                        <a:t>, 18 December 2024  </a:t>
                      </a:r>
                      <a:r>
                        <a:rPr lang="nl-NL" sz="1400" dirty="0">
                          <a:hlinkClick r:id="rId6"/>
                        </a:rPr>
                        <a:t>https://ieeexplore.ieee.org/document/10806715</a:t>
                      </a:r>
                      <a:endParaRPr lang="nl-NL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Punctuation </a:t>
                      </a:r>
                      <a:r>
                        <a:rPr lang="en-IN" sz="1400" dirty="0" err="1"/>
                        <a:t>remova</a:t>
                      </a:r>
                      <a:endParaRPr lang="en-IN" sz="14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Upsampling</a:t>
                      </a:r>
                      <a:r>
                        <a:rPr lang="en-IN" sz="1400" dirty="0"/>
                        <a:t> to 24 kHz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-vector for similarity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VoiceFixer</a:t>
                      </a:r>
                      <a:r>
                        <a:rPr lang="en-US" sz="1400" dirty="0"/>
                        <a:t> improved MOS (3.34 → 3.95) by reducing artifacts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Speaker similarity degraded for unseen voices (t-SNE cluster separation)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3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EmoSphere</a:t>
                      </a:r>
                      <a:r>
                        <a:rPr lang="en-US" sz="1400" dirty="0"/>
                        <a:t>++: Emotion-Controllable Zero-Shot Text-to-Speech via Emotion-Adaptive Spherical Vector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Dessy</a:t>
                      </a:r>
                      <a:r>
                        <a:rPr lang="en-IN" sz="1400" dirty="0"/>
                        <a:t> Puji Lestari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1400" i="1" dirty="0"/>
                        <a:t>IEEE</a:t>
                      </a:r>
                      <a:r>
                        <a:rPr lang="nl-NL" sz="1400" dirty="0"/>
                        <a:t>, 18 December 2024 </a:t>
                      </a:r>
                      <a:br>
                        <a:rPr lang="nl-NL" sz="1400" dirty="0"/>
                      </a:br>
                      <a:r>
                        <a:rPr lang="nl-NL" sz="1400" dirty="0">
                          <a:hlinkClick r:id="rId6"/>
                        </a:rPr>
                        <a:t>https://ieeexplore.ieee.org/document/10806715</a:t>
                      </a:r>
                      <a:endParaRPr lang="nl-NL" sz="1400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Emotion coordinates transformed for style/intensity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Enabled zero-shot emotion transfer without explicit emotion/speaker labels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Difficulty generalizing to unseen emotion transfer scenarios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133D-6812-33B9-F93D-40D7FF45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677108"/>
          </a:xfrm>
        </p:spPr>
        <p:txBody>
          <a:bodyPr/>
          <a:lstStyle/>
          <a:p>
            <a:r>
              <a:rPr lang="en-IN" dirty="0"/>
              <a:t>                              GAPS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F16BAA4-3C2F-C2A1-8EC0-657DBFB83EA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305341"/>
            <a:ext cx="1097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research focuses mainly on TTS-generated deepfakes, leaving voice-conversion (VC)–based                     attacks underexplored.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creates a detection gap for real-world scenarios where VC is widely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anonymization systems fail to balance privacy preservation with high-quality synthesis.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As a result, no single framework provides reliable anonymized data for deepfake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studies rely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auto-evaluation instead of human </a:t>
            </a:r>
            <a:r>
              <a:rPr lang="en-IN" dirty="0"/>
              <a:t>Mean Opinion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This limits the accuracy and perceptual credibility of audio quality assessments.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like ECAPA-TDNN and RawNet2 perform poorly on unseen speakers.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Their reduced generalization leads to degraded speaker similarity and cluster separation.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struggle with unseen emotional and domain variations in speech.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lack of robustness affects performance in diverse and cross-emotional deepfake scenarios.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8B492-A619-4E96-920D-2D7F573A93C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US" spc="-2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1A4ED-8E87-C8E9-B21A-3137AAE5DC6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51475" y="6477382"/>
            <a:ext cx="3540125" cy="359073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No.2      Batch No.DB12        </a:t>
            </a:r>
            <a:r>
              <a:rPr lang="en-IN" spc="-10" dirty="0"/>
              <a:t>Department</a:t>
            </a:r>
            <a:r>
              <a:rPr lang="en-IN" spc="-30" dirty="0"/>
              <a:t> </a:t>
            </a:r>
            <a:r>
              <a:rPr lang="en-IN" dirty="0"/>
              <a:t>of</a:t>
            </a:r>
            <a:r>
              <a:rPr lang="en-IN" spc="50" dirty="0"/>
              <a:t> </a:t>
            </a:r>
            <a:r>
              <a:rPr lang="en-IN" spc="-25" dirty="0"/>
              <a:t>CSE</a:t>
            </a:r>
            <a:endParaRPr lang="en-IN" dirty="0"/>
          </a:p>
          <a:p>
            <a:pPr marL="12700">
              <a:lnSpc>
                <a:spcPts val="1410"/>
              </a:lnSpc>
            </a:pPr>
            <a:r>
              <a:rPr lang="en-IN" dirty="0"/>
              <a:t>    </a:t>
            </a:r>
            <a:endParaRPr lang="en-IN" spc="-2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0B9B-D97C-7E0B-2CE0-B847FAC1D2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5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9565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4" y="591924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450824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192" y="1638208"/>
            <a:ext cx="9367060" cy="466473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M. </a:t>
            </a:r>
            <a:r>
              <a:rPr lang="en-US" b="1" dirty="0" err="1"/>
              <a:t>Aljasem</a:t>
            </a:r>
            <a:r>
              <a:rPr lang="en-US" b="1" dirty="0"/>
              <a:t> et al. [1]:</a:t>
            </a:r>
            <a:br>
              <a:rPr lang="en-US" dirty="0"/>
            </a:br>
            <a:r>
              <a:rPr lang="en-US" dirty="0"/>
              <a:t>They used a CNN-LSTM model for fake speech detection, but their work did not address voice-conversion (VC) deepfakes, which remain largely unexplored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Jee-</a:t>
            </a:r>
            <a:r>
              <a:rPr lang="en-US" b="1" dirty="0" err="1"/>
              <a:t>weon</a:t>
            </a:r>
            <a:r>
              <a:rPr lang="en-US" b="1" dirty="0"/>
              <a:t> Jung et al. [2]:</a:t>
            </a:r>
            <a:br>
              <a:rPr lang="en-US" dirty="0"/>
            </a:br>
            <a:r>
              <a:rPr lang="en-US" dirty="0"/>
              <a:t>They introduced ECAPA-TDNN for strong speaker embeddings, yet the model still struggles to generalize to unseen speakers and emotional variations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H. Tak et al. [3]:</a:t>
            </a:r>
            <a:br>
              <a:rPr lang="en-US" dirty="0"/>
            </a:br>
            <a:r>
              <a:rPr lang="en-US" dirty="0"/>
              <a:t>RawNet2 handles raw audio well, but its performance drops on unseen voices, showing a gap in cross-speaker and cross-emotion robustness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 err="1"/>
              <a:t>Desplanques</a:t>
            </a:r>
            <a:r>
              <a:rPr lang="en-US" b="1" dirty="0"/>
              <a:t> et al. (</a:t>
            </a:r>
            <a:r>
              <a:rPr lang="en-US" b="1" dirty="0" err="1"/>
              <a:t>SpeechBrain</a:t>
            </a:r>
            <a:r>
              <a:rPr lang="en-US" b="1" dirty="0"/>
              <a:t>, 2020):</a:t>
            </a:r>
            <a:br>
              <a:rPr lang="en-US" dirty="0"/>
            </a:br>
            <a:r>
              <a:rPr lang="en-US" dirty="0" err="1"/>
              <a:t>SpeechBrain</a:t>
            </a:r>
            <a:r>
              <a:rPr lang="en-US" dirty="0"/>
              <a:t> provides scalable tools like ECAPA-TDNN, but it does not solve the issue of balancing privacy and synthesis quality in anonymized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/>
              <a:t>Yi Zhao et al. [4]:</a:t>
            </a:r>
            <a:br>
              <a:rPr lang="en-US" dirty="0"/>
            </a:br>
            <a:r>
              <a:rPr lang="en-US" dirty="0"/>
              <a:t>Their spectrogram-based methods detect frequency artifacts, but they rely mainly on automated evaluations (e.g., </a:t>
            </a:r>
            <a:r>
              <a:rPr lang="en-US" dirty="0" err="1"/>
              <a:t>MosNet</a:t>
            </a:r>
            <a:r>
              <a:rPr lang="en-US" dirty="0"/>
              <a:t>), lacking human MOS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73187" y="2265861"/>
            <a:ext cx="9445625" cy="371127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Growing Threat of Synthetic Speech:</a:t>
            </a:r>
            <a:r>
              <a:rPr lang="en-US" sz="2000" dirty="0"/>
              <a:t> Deepfake audio can convincingly mimic real voices, posing serious risks to privacy, security, and misinformation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Lack of Robust Detection Models:</a:t>
            </a:r>
            <a:r>
              <a:rPr lang="en-US" sz="2000" dirty="0"/>
              <a:t> Many existing systems struggle to distinguish between genuine and AI-generated audio, especially when speech is natural and noise-free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Feature Extraction Challenges:</a:t>
            </a:r>
            <a:r>
              <a:rPr lang="en-US" sz="2000" dirty="0"/>
              <a:t> Traditional acoustic feature methods fail to capture subtle speech patterns and temporal cues present in deepfake audio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863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2491" y="1930097"/>
            <a:ext cx="9979025" cy="373801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Develop a Robust Detection Framework:</a:t>
            </a:r>
            <a:r>
              <a:rPr lang="en-US" sz="2000" dirty="0"/>
              <a:t> Build a dynamic deepfake detection system capable of identifying synthetic audio with high precision and adaptability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Leverage Advanced Audio Embeddings:</a:t>
            </a:r>
            <a:r>
              <a:rPr lang="en-US" sz="2000" dirty="0"/>
              <a:t> Utilize ECAPA-TDNN for extracting discriminative speaker and speech features from real and fake audio samples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Ensure Scalability and Generalization:</a:t>
            </a:r>
            <a:r>
              <a:rPr lang="en-US" sz="2000" dirty="0"/>
              <a:t> Design a model that performs consistently across diverse datasets like TIMIT and TIMIT-TTS without retraining for new data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b="1" dirty="0"/>
              <a:t>Enable Real-Time Detection:</a:t>
            </a:r>
            <a:r>
              <a:rPr lang="en-US" sz="2000" dirty="0"/>
              <a:t> Implement an efficient pipeline for quick analysis and accurate classification suitable for deployment in real-world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953" y="238197"/>
            <a:ext cx="10101072" cy="120000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9" name="Image 25">
            <a:extLst>
              <a:ext uri="{FF2B5EF4-FFF2-40B4-BE49-F238E27FC236}">
                <a16:creationId xmlns:a16="http://schemas.microsoft.com/office/drawing/2014/main" id="{1A2A1739-1B5F-A3BE-F474-C43EDCE4F830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43200" y="1066800"/>
            <a:ext cx="5791200" cy="538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55418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505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 No. DB12 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315200" y="6443662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981200"/>
            <a:ext cx="10402951" cy="416678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b="1" dirty="0"/>
              <a:t>Data Collection</a:t>
            </a:r>
            <a:r>
              <a:rPr lang="en-US" b="1" dirty="0"/>
              <a:t>:</a:t>
            </a:r>
            <a:r>
              <a:rPr lang="en-US" dirty="0"/>
              <a:t> Collect and organize genuine and synthetic speech samples from TIMIT and TIMIT-TTS datasets for training and evaluation.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Audio Preprocessing:</a:t>
            </a:r>
            <a:r>
              <a:rPr lang="en-US" dirty="0"/>
              <a:t> Normalize, resample to 16 kHz, convert to mono, and remove silence or noise to ensure consistent audio quality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Feature Extraction:</a:t>
            </a:r>
            <a:r>
              <a:rPr lang="en-US" dirty="0"/>
              <a:t> Use ECAPA-TDNN to extract robust embeddings that capture speaker identity and vocal characteristics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Model Training:</a:t>
            </a:r>
            <a:r>
              <a:rPr lang="en-US" dirty="0"/>
              <a:t> Train the classifier to distinguish between real and fake voices using extracted embeddings and optimized loss functions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b="1" dirty="0"/>
              <a:t>Evaluation and Testing:</a:t>
            </a:r>
            <a:r>
              <a:rPr lang="en-US" dirty="0"/>
              <a:t> Assess performance through metrics like accuracy, F1-score, and AUC to ensure reliable deepfake detection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9834245" cy="40077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Programming Environment:</a:t>
            </a:r>
            <a:r>
              <a:rPr lang="en-US" dirty="0"/>
              <a:t> The system is built using Python 3.10, integrating libraries like OpenCV, Matplotlib, and Scikit-learn for audio processing, visualization, and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Development Platform:</a:t>
            </a:r>
            <a:r>
              <a:rPr lang="en-US" dirty="0"/>
              <a:t> Implementation is performed on both local machines and Google Colab to utilize GPU acceleration for efficient model training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IN" b="1" dirty="0"/>
              <a:t>Hardware Setup:</a:t>
            </a:r>
            <a:r>
              <a:rPr lang="en-IN" dirty="0"/>
              <a:t> The setup includes an Intel Core i5-12450H CPU, 8 GB RAM, and an NVIDIA Tesla T4 GPU with 16 GB VRAM for fast computation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Operating System:</a:t>
            </a:r>
            <a:r>
              <a:rPr lang="en-US" dirty="0"/>
              <a:t> The project runs on Windows 11 (64-bit) to ensure compatibility and stable performance across environments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35353" y="1676400"/>
            <a:ext cx="9445626" cy="12964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dirty="0"/>
              <a:t>The proposed Audio-Based Deepfake Detection System demonstrates strong accuracy, robustness, and efficiency on the TIMIT and TIMIT-TTS datasets, effectively distinguishing real and synthetic voices.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B28D4-F927-004C-A487-05EDF47E3889}"/>
              </a:ext>
            </a:extLst>
          </p:cNvPr>
          <p:cNvSpPr txBox="1"/>
          <p:nvPr/>
        </p:nvSpPr>
        <p:spPr>
          <a:xfrm>
            <a:off x="1271181" y="3173359"/>
            <a:ext cx="5271763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b="1" dirty="0"/>
              <a:t>TIMIT-TTS Dataset Performance:</a:t>
            </a:r>
          </a:p>
          <a:p>
            <a:pPr>
              <a:defRPr/>
            </a:pP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Model Used:</a:t>
            </a:r>
            <a:r>
              <a:rPr lang="en-IN" dirty="0"/>
              <a:t> ECAPA-TDNN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Accuracy:</a:t>
            </a:r>
            <a:r>
              <a:rPr lang="en-IN" dirty="0"/>
              <a:t> 94.7%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F1-Score:</a:t>
            </a:r>
            <a:r>
              <a:rPr lang="en-IN" dirty="0"/>
              <a:t> 0.95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AUC:</a:t>
            </a:r>
            <a:r>
              <a:rPr lang="en-IN" dirty="0"/>
              <a:t> 0.98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BE648-DFF4-15E9-BC50-96236A269277}"/>
              </a:ext>
            </a:extLst>
          </p:cNvPr>
          <p:cNvSpPr txBox="1"/>
          <p:nvPr/>
        </p:nvSpPr>
        <p:spPr>
          <a:xfrm>
            <a:off x="6400800" y="3173359"/>
            <a:ext cx="4596219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b="1" dirty="0"/>
              <a:t>Comparative Model (RawNet2) Performance</a:t>
            </a:r>
            <a:r>
              <a:rPr lang="en-US" b="1" dirty="0"/>
              <a:t>: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Model Used</a:t>
            </a:r>
            <a:r>
              <a:rPr lang="en-IN" dirty="0"/>
              <a:t>:RawNet2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Accuracy:</a:t>
            </a:r>
            <a:r>
              <a:rPr lang="en-IN" dirty="0"/>
              <a:t> 88.3%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F1-Score:</a:t>
            </a:r>
            <a:r>
              <a:rPr lang="en-IN" dirty="0"/>
              <a:t> 0.89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b="1" dirty="0"/>
              <a:t>AUC:</a:t>
            </a:r>
            <a:r>
              <a:rPr lang="en-IN" dirty="0"/>
              <a:t> 0.92</a:t>
            </a:r>
            <a:endParaRPr lang="en-IN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6296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21204" y="2057400"/>
            <a:ext cx="8149590" cy="436529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The proposed Audio Deepfake Detection System using ECAPA-TDNN accurately distinguishes real and synthetic voices, achieving high performance on the TIMIT-TTS dataset</a:t>
            </a:r>
            <a:r>
              <a:rPr lang="en-US" altLang="en-US" sz="1800" dirty="0"/>
              <a:t>5.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The model is efficient, scalable, and suitable for real-time deployment in speech authentication and media forensics</a:t>
            </a:r>
            <a:r>
              <a:rPr lang="en-US" altLang="en-US" sz="1800" dirty="0"/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Future work includes extending detection to multi-language and cross-speaker deepfakes for broader applicability</a:t>
            </a:r>
            <a:r>
              <a:rPr lang="en-US" altLang="en-US" sz="1800" dirty="0"/>
              <a:t>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/>
              <a:t>A real-time web interface with visualization and multimodal (audio-video) integration will enhance user accessibility and system robustness</a:t>
            </a:r>
            <a:r>
              <a:rPr lang="en-US" altLang="en-US" sz="1800" dirty="0"/>
              <a:t>.</a:t>
            </a:r>
            <a:endParaRPr lang="en-IN" altLang="en-US" sz="1800" dirty="0"/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5463" y="1676400"/>
            <a:ext cx="10360025" cy="366549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[1] T. Kinnunen, M. </a:t>
            </a:r>
            <a:r>
              <a:rPr lang="en-IN" sz="1600" dirty="0" err="1"/>
              <a:t>Sahidullah</a:t>
            </a:r>
            <a:r>
              <a:rPr lang="en-IN" sz="1600" dirty="0"/>
              <a:t>, H. Li, Z.-H. Tan, and J. Yamagishi, “A survey on voice conversion,” IEEE/ACM Transactions on Audio, Speech, and Language Processing, vol. 28, pp. 2023– 2040, 2020.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[2] L. </a:t>
            </a:r>
            <a:r>
              <a:rPr lang="en-IN" sz="1600" dirty="0" err="1"/>
              <a:t>Verdoliva</a:t>
            </a:r>
            <a:r>
              <a:rPr lang="en-IN" sz="1600" dirty="0"/>
              <a:t>, “Media forensics and deepfakes: An overview,” IEEE Journal of Selected Topics in Signal Processing, vol. 14, no. 5, pp. 910–932, 2020.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[3] B. </a:t>
            </a:r>
            <a:r>
              <a:rPr lang="en-IN" sz="1600" dirty="0" err="1"/>
              <a:t>Desplanques</a:t>
            </a:r>
            <a:r>
              <a:rPr lang="en-IN" sz="1600" dirty="0"/>
              <a:t>, J. </a:t>
            </a:r>
            <a:r>
              <a:rPr lang="en-IN" sz="1600" dirty="0" err="1"/>
              <a:t>Thienpondt</a:t>
            </a:r>
            <a:r>
              <a:rPr lang="en-IN" sz="1600" dirty="0"/>
              <a:t>, and K. Demuynck, “</a:t>
            </a:r>
            <a:r>
              <a:rPr lang="en-IN" sz="1600" dirty="0" err="1"/>
              <a:t>Ecapa-tdnn</a:t>
            </a:r>
            <a:r>
              <a:rPr lang="en-IN" sz="1600" dirty="0"/>
              <a:t>: Emphasized channel attention, propagation and aggregation in </a:t>
            </a:r>
            <a:r>
              <a:rPr lang="en-IN" sz="1600" dirty="0" err="1"/>
              <a:t>tdnn</a:t>
            </a:r>
            <a:r>
              <a:rPr lang="en-IN" sz="1600" dirty="0"/>
              <a:t>-based speaker verification,” in Proc. </a:t>
            </a:r>
            <a:r>
              <a:rPr lang="en-IN" sz="1600" dirty="0" err="1"/>
              <a:t>Interspeech</a:t>
            </a:r>
            <a:r>
              <a:rPr lang="en-IN" sz="1600" dirty="0"/>
              <a:t>, 2020, pp. 3830–3834.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[4] R. Kumar, S. Patel, and A. Joshi, “Timit-ai-</a:t>
            </a:r>
            <a:r>
              <a:rPr lang="en-IN" sz="1600" dirty="0" err="1"/>
              <a:t>tts</a:t>
            </a:r>
            <a:r>
              <a:rPr lang="en-IN" sz="1600" dirty="0"/>
              <a:t>: A benchmark dataset for robust detection of synthetic speech,” in Proc. Int. Conf. Audio Forensics AI Security (AFAS), 2025.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[5] J. Jung, H.-S. Heo, J.-H. Kim, H.-J. Shim, and H.-J. Yu, “Rawnet2: Improved end-to-end deep neural network using raw waveform for text-independent speaker verification,” </a:t>
            </a:r>
            <a:r>
              <a:rPr lang="en-IN" sz="1600" dirty="0" err="1"/>
              <a:t>arXiv</a:t>
            </a:r>
            <a:r>
              <a:rPr lang="en-IN" sz="1600" dirty="0"/>
              <a:t> preprint arXiv:2001.05512, 2020.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158B-403F-B457-E4EA-02750B9D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96C82-37D7-35B8-D98F-B7B73D7E0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5DA61EC-CAE7-A4FF-8B0B-532985DE2C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F17FB1-43CC-85B7-13C1-4464904C801D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B5B30E6-3923-5DB6-F16F-F6B79F054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4347B5-2AEF-6B81-46DF-A98FB8C9DE1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A2DDA49-0503-F96E-AB49-184569A438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373999-F6DC-CB02-2A59-2022C5D5AACA}"/>
              </a:ext>
            </a:extLst>
          </p:cNvPr>
          <p:cNvSpPr txBox="1"/>
          <p:nvPr/>
        </p:nvSpPr>
        <p:spPr>
          <a:xfrm>
            <a:off x="1045463" y="1676400"/>
            <a:ext cx="10360025" cy="40348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[6] F. Kreuk, J. Keshet, Y. </a:t>
            </a:r>
            <a:r>
              <a:rPr lang="en-IN" sz="1600" dirty="0" err="1"/>
              <a:t>Taigman</a:t>
            </a:r>
            <a:r>
              <a:rPr lang="en-IN" sz="1600" dirty="0"/>
              <a:t>, and L. Wolf, “Synthesizing speech from mel spectrograms using </a:t>
            </a:r>
            <a:r>
              <a:rPr lang="en-IN" sz="1600" dirty="0" err="1"/>
              <a:t>gans</a:t>
            </a:r>
            <a:r>
              <a:rPr lang="en-IN" sz="1600" dirty="0"/>
              <a:t>,” IEEE/ACM Transactions on Audio, Speech, and Language Processing, vol. 30, pp. 2723–2736, 2022.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[7] G. </a:t>
            </a:r>
            <a:r>
              <a:rPr lang="en-IN" sz="1600" dirty="0" err="1"/>
              <a:t>Tahaoglu</a:t>
            </a:r>
            <a:r>
              <a:rPr lang="en-IN" sz="1600" dirty="0"/>
              <a:t> et al., “Deepfake audio detection with spectral features and noise robustness,” Pattern Recognition Letters, vol. 204, p. 109974, 2025.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[8] H. Tak, J. Jung, J. Patino, M. Kamble, M. Todisco, and N. Evans, “End-to-end </a:t>
            </a:r>
            <a:r>
              <a:rPr lang="en-IN" sz="1600" dirty="0" err="1"/>
              <a:t>spectro</a:t>
            </a:r>
            <a:r>
              <a:rPr lang="en-IN" sz="1600" dirty="0"/>
              <a:t>-temporal graph attention networks for speaker verification anti-spoofing and speech deepfake detection,” IEEE Access, vol. 9, pp. 118 552–118 564, 2021.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[9] M. </a:t>
            </a:r>
            <a:r>
              <a:rPr lang="en-IN" sz="1600" dirty="0" err="1"/>
              <a:t>Alzantot</a:t>
            </a:r>
            <a:r>
              <a:rPr lang="en-IN" sz="1600" dirty="0"/>
              <a:t>, Z. Wang, and M. B. Srivastava, “Deep residual neural networks for audio spoofing detection,” in Proc. </a:t>
            </a:r>
            <a:r>
              <a:rPr lang="en-IN" sz="1600" dirty="0" err="1"/>
              <a:t>ASVspoof</a:t>
            </a:r>
            <a:r>
              <a:rPr lang="en-IN" sz="1600" dirty="0"/>
              <a:t> Challenge, 2019.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[10] X. Chen, Y. Zhang, G. Zhu, and Z. Duan, “Ur channel-robust synthetic speech detection system for </a:t>
            </a:r>
            <a:r>
              <a:rPr lang="en-IN" sz="1600" dirty="0" err="1"/>
              <a:t>asvspoof</a:t>
            </a:r>
            <a:r>
              <a:rPr lang="en-IN" sz="1600" dirty="0"/>
              <a:t> 2021,” in Proc. </a:t>
            </a:r>
            <a:r>
              <a:rPr lang="en-IN" sz="1600" dirty="0" err="1"/>
              <a:t>ASVspoof</a:t>
            </a:r>
            <a:r>
              <a:rPr lang="en-IN" sz="1600" dirty="0"/>
              <a:t> Challenge, 2021.22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96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C1F7F-5B9F-0185-9E08-37343E56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23C2E0-AC08-6F6E-727B-0DB303A9C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3653EA-13C8-4A51-6447-3382B1F3E09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463804-EE9D-9B5D-3D83-9FC7C6B0D69A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C35F68F-1D99-7586-D78E-D75B245CCFB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486160" y="6451049"/>
            <a:ext cx="105678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A2790F0-0C3A-3677-091F-1983CA6BD23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01023F4-A3B4-FCA8-844E-DC220353B80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46612B-AD92-2D56-AFD2-200D7739FF85}"/>
              </a:ext>
            </a:extLst>
          </p:cNvPr>
          <p:cNvSpPr txBox="1"/>
          <p:nvPr/>
        </p:nvSpPr>
        <p:spPr>
          <a:xfrm>
            <a:off x="533400" y="1066800"/>
            <a:ext cx="11353800" cy="55077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[11] W. Yang et al., “Avoid-</a:t>
            </a:r>
            <a:r>
              <a:rPr lang="en-IN" dirty="0" err="1"/>
              <a:t>df</a:t>
            </a:r>
            <a:r>
              <a:rPr lang="en-IN" dirty="0"/>
              <a:t>: Audio-visual joint learning for detecting deepfake,” IEEE Transactions on Information Forensics and Security, vol. 18, pp. 2015–2029, 2023.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[12] K. </a:t>
            </a:r>
            <a:r>
              <a:rPr lang="en-IN" dirty="0" err="1"/>
              <a:t>Lakshminadh</a:t>
            </a:r>
            <a:r>
              <a:rPr lang="en-IN" dirty="0"/>
              <a:t>, D. C. V. </a:t>
            </a:r>
            <a:r>
              <a:rPr lang="en-IN" dirty="0" err="1"/>
              <a:t>Guptha</a:t>
            </a:r>
            <a:r>
              <a:rPr lang="en-IN" dirty="0"/>
              <a:t>, J. Sai, K. Rajesh, S. Moturi, Y. Neelima, and D. V. Reddy, “Deepfake audio detection using machine learning models,” in Proc. IEEE Int. Conf. </a:t>
            </a:r>
            <a:r>
              <a:rPr lang="en-IN" dirty="0" err="1"/>
              <a:t>Interdiscip</a:t>
            </a:r>
            <a:r>
              <a:rPr lang="en-IN" dirty="0"/>
              <a:t>. Approaches Technol. Manage. Social </a:t>
            </a:r>
            <a:r>
              <a:rPr lang="en-IN" dirty="0" err="1"/>
              <a:t>Innov</a:t>
            </a:r>
            <a:r>
              <a:rPr lang="en-IN" dirty="0"/>
              <a:t>. (IATMSI), 2025.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[13] S. N. T. Rao, T. C. Dulla, V. K. Kolla, G. S. Kurakula, M. Suneetha, S. Moturi, and D. V. Reddy, “Fake audio detection using deep learning approaches,” in Proc. IEEE Int. Conf. </a:t>
            </a:r>
            <a:r>
              <a:rPr lang="en-IN" dirty="0" err="1"/>
              <a:t>Interdiscip</a:t>
            </a:r>
            <a:r>
              <a:rPr lang="en-IN" dirty="0"/>
              <a:t>. Approaches Technol. Manage. Social </a:t>
            </a:r>
            <a:r>
              <a:rPr lang="en-IN" dirty="0" err="1"/>
              <a:t>Innov</a:t>
            </a:r>
            <a:r>
              <a:rPr lang="en-IN" dirty="0"/>
              <a:t>. (IATMSI), 2025.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[14] B. Greeshma, M. Sireesha, and S. N. T. Rao, “A survey on fake audio detection using deep learning techniques,” in Lecture Notes in Networks and Systems. Springer, 2022.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[15] N. M. Muller, P. Kawa, W. H. Choong, E. Casanova, ¨ E. </a:t>
            </a:r>
            <a:r>
              <a:rPr lang="en-IN" dirty="0" err="1"/>
              <a:t>Golge</a:t>
            </a:r>
            <a:r>
              <a:rPr lang="en-IN" dirty="0"/>
              <a:t>, T. M ¨ </a:t>
            </a:r>
            <a:r>
              <a:rPr lang="en-IN" dirty="0" err="1"/>
              <a:t>uller</a:t>
            </a:r>
            <a:r>
              <a:rPr lang="en-IN" dirty="0"/>
              <a:t>, P. </a:t>
            </a:r>
            <a:r>
              <a:rPr lang="en-IN" dirty="0" err="1"/>
              <a:t>Syga</a:t>
            </a:r>
            <a:r>
              <a:rPr lang="en-IN" dirty="0"/>
              <a:t>, P. Sperl, and K. B ¨ </a:t>
            </a:r>
            <a:r>
              <a:rPr lang="en-IN" dirty="0" err="1"/>
              <a:t>ottinger</a:t>
            </a:r>
            <a:r>
              <a:rPr lang="en-IN" dirty="0"/>
              <a:t>, ¨ “</a:t>
            </a:r>
            <a:r>
              <a:rPr lang="en-IN" dirty="0" err="1"/>
              <a:t>Mlaad</a:t>
            </a:r>
            <a:r>
              <a:rPr lang="en-IN" dirty="0"/>
              <a:t>: The multi-language audio anti-spoofing dataset,” in </a:t>
            </a:r>
            <a:r>
              <a:rPr lang="en-IN" dirty="0" err="1"/>
              <a:t>arXiv</a:t>
            </a:r>
            <a:r>
              <a:rPr lang="en-IN" dirty="0"/>
              <a:t> preprint arXiv:2401.09512, 2024.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59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05000" y="2057400"/>
            <a:ext cx="9199626" cy="33162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 What are the datasets used?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I used two datasets — </a:t>
            </a:r>
            <a:r>
              <a:rPr lang="en-IN" b="1" dirty="0"/>
              <a:t>TIMIT</a:t>
            </a:r>
            <a:r>
              <a:rPr lang="en-IN" dirty="0"/>
              <a:t> and </a:t>
            </a:r>
            <a:r>
              <a:rPr lang="en-IN" b="1" dirty="0"/>
              <a:t>TIMIT-TTS</a:t>
            </a:r>
            <a:r>
              <a:rPr lang="en-IN" dirty="0"/>
              <a:t>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Do you use both datasets together?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No, I used the datasets separately for training and evaluation.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 What is the main objective of this project?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dirty="0"/>
              <a:t>The main objective is to develop an </a:t>
            </a:r>
            <a:r>
              <a:rPr lang="en-US" b="1" dirty="0"/>
              <a:t>audio-based deepfake detection system</a:t>
            </a:r>
            <a:r>
              <a:rPr lang="en-US" dirty="0"/>
              <a:t> that accurately differentiates real and synthetic voices using the </a:t>
            </a:r>
            <a:r>
              <a:rPr lang="en-US" b="1" dirty="0"/>
              <a:t>ECAPA-TDNN model</a:t>
            </a:r>
            <a:r>
              <a:rPr lang="en-US" dirty="0"/>
              <a:t> and acoustic feature representations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lang="en-IN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512425" cy="40857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Grateful to our Chairman, Sri M. V.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Koteswara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Rao, B.Sc.,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continuous support and encouragement throughout the course.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Thankful to our Principal, Dr. S.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Venkateswarlu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Ph.D.,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valuable guidance and motivation.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Sincere thanks to Dr. S. N. Tirumala Rao,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Ph.D., HOD of CSE,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T.G.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Ramnadh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guidance and constant encouragement.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to Syed Rizwana,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(Ph.D.), Assistant Professor &amp; Project Coordinator,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her support and inspiration.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Heartfelt gratitude to our parents, friends, and the CSE department staff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cooperation, motivation, and continuous encouragement.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0FF59-E604-04AE-94B5-5AB53F00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1162193E-6997-7C14-CD63-E43AC81AC3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821C2432-84FD-8A0F-4E34-AD4BCFA9794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5-12-2025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497366-0394-0D10-C7DE-3A78512CD94D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F2A21F1-7F64-B53C-AE77-5A404F3E491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DB12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3232B70-6E61-42F4-DA02-2B13416010D0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0D742A9-825F-ED0D-E3CE-2F451F66B4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71C07-ADB4-5522-86E0-D56AB5889068}"/>
              </a:ext>
            </a:extLst>
          </p:cNvPr>
          <p:cNvSpPr txBox="1"/>
          <p:nvPr/>
        </p:nvSpPr>
        <p:spPr>
          <a:xfrm>
            <a:off x="2971800" y="1981200"/>
            <a:ext cx="739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E7EF9-D87F-BA8D-EF13-1B4D55950AF4}"/>
              </a:ext>
            </a:extLst>
          </p:cNvPr>
          <p:cNvSpPr txBox="1"/>
          <p:nvPr/>
        </p:nvSpPr>
        <p:spPr>
          <a:xfrm>
            <a:off x="7315200" y="4038600"/>
            <a:ext cx="434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Contact: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hemanthkumarboddana002@gmail.com</a:t>
            </a:r>
          </a:p>
        </p:txBody>
      </p:sp>
    </p:spTree>
    <p:extLst>
      <p:ext uri="{BB962C8B-B14F-4D97-AF65-F5344CB8AC3E}">
        <p14:creationId xmlns:p14="http://schemas.microsoft.com/office/powerpoint/2010/main" val="356115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2718</Words>
  <Application>Microsoft Office PowerPoint</Application>
  <PresentationFormat>Widescreen</PresentationFormat>
  <Paragraphs>248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MT</vt:lpstr>
      <vt:lpstr>Berlin Sans FB Demi</vt:lpstr>
      <vt:lpstr>Calibri</vt:lpstr>
      <vt:lpstr>Times New Roman</vt:lpstr>
      <vt:lpstr>Office Theme</vt:lpstr>
      <vt:lpstr>Department of Computer Science and Engineering</vt:lpstr>
      <vt:lpstr>ABSTRACT </vt:lpstr>
      <vt:lpstr>INTRODUCTION</vt:lpstr>
      <vt:lpstr>LITERATURE SURVEY</vt:lpstr>
      <vt:lpstr>                              GAPS</vt:lpstr>
      <vt:lpstr>LITERATURE SURVEY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CONCLUSION and FUTURE SCOPE</vt:lpstr>
      <vt:lpstr>REFERENCES</vt:lpstr>
      <vt:lpstr>REFERENCES</vt:lpstr>
      <vt:lpstr>REFERENCES</vt:lpstr>
      <vt:lpstr>QUESTIONS and ANSWERS</vt:lpstr>
      <vt:lpstr>ACKNOWLEGEMENTS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Y</dc:creator>
  <cp:lastModifiedBy>CHINNU TINNU</cp:lastModifiedBy>
  <cp:revision>8</cp:revision>
  <dcterms:created xsi:type="dcterms:W3CDTF">2025-11-08T10:38:02Z</dcterms:created>
  <dcterms:modified xsi:type="dcterms:W3CDTF">2025-12-05T04:19:05Z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2025-11-08T00:00:00Z</vt:filetime>
  </property>
</Properties>
</file>